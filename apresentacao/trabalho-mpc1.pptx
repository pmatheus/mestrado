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86" r:id="rId2"/>
    <p:sldId id="492" r:id="rId3"/>
    <p:sldId id="497" r:id="rId4"/>
    <p:sldId id="495" r:id="rId5"/>
    <p:sldId id="547" r:id="rId6"/>
    <p:sldId id="549" r:id="rId7"/>
    <p:sldId id="548" r:id="rId8"/>
    <p:sldId id="550" r:id="rId9"/>
    <p:sldId id="551" r:id="rId10"/>
    <p:sldId id="553" r:id="rId11"/>
    <p:sldId id="554" r:id="rId12"/>
    <p:sldId id="555" r:id="rId13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0" autoAdjust="0"/>
    <p:restoredTop sz="92442" autoAdjust="0"/>
  </p:normalViewPr>
  <p:slideViewPr>
    <p:cSldViewPr snapToGrid="0">
      <p:cViewPr varScale="1">
        <p:scale>
          <a:sx n="125" d="100"/>
          <a:sy n="125" d="100"/>
        </p:scale>
        <p:origin x="27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0C6390-BE97-3600-545D-4710191A1D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Trabalho de Metodologia em Produção Ciêntifica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190FF-4C53-9A96-25CA-5DC33A7B31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27B84-7EC0-EC47-9D50-E5251DDF9B6C}" type="datetimeFigureOut">
              <a:rPr lang="en-US" smtClean="0"/>
              <a:t>7/10/25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26CED-618B-CECE-2B9A-243D3912CD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9DAB8-A61A-F657-65DE-DE0A14A3EE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7EBC-84B1-B74B-99D8-2DE8FA70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6390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BR"/>
              <a:t>Trabalho de Metodologia em Produção Ciêntifica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026F2-A167-434B-B01B-3873F7BFF3D8}" type="datetimeFigureOut">
              <a:rPr lang="en-BR" smtClean="0"/>
              <a:t>7/10/25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77710-99C4-A445-9D5A-3C353E7844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2824660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710-99C4-A445-9D5A-3C353E784469}" type="slidenum">
              <a:rPr lang="en-BR" smtClean="0"/>
              <a:t>1</a:t>
            </a:fld>
            <a:endParaRPr lang="en-BR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8AAABC6B-3CBF-9BB0-613C-87F1C9CA6AA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BR"/>
              <a:t>Trabalho de Metodologia em Produção Ciêntifica</a:t>
            </a:r>
          </a:p>
        </p:txBody>
      </p:sp>
    </p:spTree>
    <p:extLst>
      <p:ext uri="{BB962C8B-B14F-4D97-AF65-F5344CB8AC3E}">
        <p14:creationId xmlns:p14="http://schemas.microsoft.com/office/powerpoint/2010/main" val="3026916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710-99C4-A445-9D5A-3C353E784469}" type="slidenum">
              <a:rPr lang="en-BR" smtClean="0"/>
              <a:t>2</a:t>
            </a:fld>
            <a:endParaRPr lang="en-BR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DA6C135-8862-F16B-A06B-451195B3A00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BR"/>
              <a:t>Trabalho de Metodologia em Produção Ciêntifica</a:t>
            </a:r>
          </a:p>
        </p:txBody>
      </p:sp>
    </p:spTree>
    <p:extLst>
      <p:ext uri="{BB962C8B-B14F-4D97-AF65-F5344CB8AC3E}">
        <p14:creationId xmlns:p14="http://schemas.microsoft.com/office/powerpoint/2010/main" val="121559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710-99C4-A445-9D5A-3C353E784469}" type="slidenum">
              <a:rPr lang="en-BR" smtClean="0"/>
              <a:t>3</a:t>
            </a:fld>
            <a:endParaRPr lang="en-BR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829A481-518E-D232-8929-16555C1BC58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BR"/>
              <a:t>Trabalho de Metodologia em Produção Ciêntifica</a:t>
            </a:r>
          </a:p>
        </p:txBody>
      </p:sp>
    </p:spTree>
    <p:extLst>
      <p:ext uri="{BB962C8B-B14F-4D97-AF65-F5344CB8AC3E}">
        <p14:creationId xmlns:p14="http://schemas.microsoft.com/office/powerpoint/2010/main" val="3456287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710-99C4-A445-9D5A-3C353E784469}" type="slidenum">
              <a:rPr lang="en-BR" smtClean="0"/>
              <a:t>4</a:t>
            </a:fld>
            <a:endParaRPr lang="en-BR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B5D9660-CE07-1D83-D2CD-2A21AE05311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BR"/>
              <a:t>Trabalho de Metodologia em Produção Ciêntifica</a:t>
            </a:r>
          </a:p>
        </p:txBody>
      </p:sp>
    </p:spTree>
    <p:extLst>
      <p:ext uri="{BB962C8B-B14F-4D97-AF65-F5344CB8AC3E}">
        <p14:creationId xmlns:p14="http://schemas.microsoft.com/office/powerpoint/2010/main" val="2198966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34203-2B85-31F3-42FA-26A4469CB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5AD3C-9CF6-E96C-EF58-5A8F1366C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A1735-4223-43AD-0F85-0AD082AE8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6C7FC-3AF2-4374-768A-E8601B8BBB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710-99C4-A445-9D5A-3C353E784469}" type="slidenum">
              <a:rPr lang="en-BR" smtClean="0"/>
              <a:t>5</a:t>
            </a:fld>
            <a:endParaRPr lang="en-BR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0E86E5B2-0336-0E27-67B9-2F4C68099BF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BR"/>
              <a:t>Trabalho de Metodologia em Produção Ciêntifica</a:t>
            </a:r>
          </a:p>
        </p:txBody>
      </p:sp>
    </p:spTree>
    <p:extLst>
      <p:ext uri="{BB962C8B-B14F-4D97-AF65-F5344CB8AC3E}">
        <p14:creationId xmlns:p14="http://schemas.microsoft.com/office/powerpoint/2010/main" val="3140810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F6BA0-4DF7-55AF-17A4-90A697F64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088AD-035D-C769-733F-601CF0F09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C32B2-FF2A-9C8D-F5A2-2DB080664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B159C-7B48-8B06-7833-46FB1EB15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710-99C4-A445-9D5A-3C353E784469}" type="slidenum">
              <a:rPr lang="en-BR" smtClean="0"/>
              <a:t>6</a:t>
            </a:fld>
            <a:endParaRPr lang="en-BR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1F3B9BB-2C9D-30A8-6F8C-3DED64445BE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BR"/>
              <a:t>Trabalho de Metodologia em Produção Ciêntifica</a:t>
            </a:r>
          </a:p>
        </p:txBody>
      </p:sp>
    </p:spTree>
    <p:extLst>
      <p:ext uri="{BB962C8B-B14F-4D97-AF65-F5344CB8AC3E}">
        <p14:creationId xmlns:p14="http://schemas.microsoft.com/office/powerpoint/2010/main" val="3525870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E93AF-A55A-73EB-BF12-D63E22DD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80646-F502-EDCC-E156-8E7F626A5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D2F20-9B01-1408-B576-B338E567A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6934C-EB5C-229E-3304-54132020D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710-99C4-A445-9D5A-3C353E784469}" type="slidenum">
              <a:rPr lang="en-BR" smtClean="0"/>
              <a:t>7</a:t>
            </a:fld>
            <a:endParaRPr lang="en-BR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2C73997-70B8-972E-D3FF-B95F6D6FC46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BR"/>
              <a:t>Trabalho de Metodologia em Produção Ciêntifica</a:t>
            </a:r>
          </a:p>
        </p:txBody>
      </p:sp>
    </p:spTree>
    <p:extLst>
      <p:ext uri="{BB962C8B-B14F-4D97-AF65-F5344CB8AC3E}">
        <p14:creationId xmlns:p14="http://schemas.microsoft.com/office/powerpoint/2010/main" val="3159544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4FE39-9FCA-1C3F-24FC-70D40CDE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DFA2F-20C2-2D0C-1D7F-21DE88484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2C2EE-E865-66E8-7232-D5D64119A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9D018-7E71-7A7B-6ADF-A4DF1A6FC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710-99C4-A445-9D5A-3C353E784469}" type="slidenum">
              <a:rPr lang="en-BR" smtClean="0"/>
              <a:t>8</a:t>
            </a:fld>
            <a:endParaRPr lang="en-BR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8AA9F9E-B5C0-7E12-43D9-CA44C473E62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BR"/>
              <a:t>Trabalho de Metodologia em Produção Ciêntifica</a:t>
            </a:r>
          </a:p>
        </p:txBody>
      </p:sp>
    </p:spTree>
    <p:extLst>
      <p:ext uri="{BB962C8B-B14F-4D97-AF65-F5344CB8AC3E}">
        <p14:creationId xmlns:p14="http://schemas.microsoft.com/office/powerpoint/2010/main" val="1554182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B809C-0259-E8BF-D902-32621AFA4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680F4-145A-058B-4FB9-B0492CB5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F4858-B7DD-EEC7-D917-8CA7E746F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E5F4E-CB4C-0763-52FE-66475BA8E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710-99C4-A445-9D5A-3C353E784469}" type="slidenum">
              <a:rPr lang="en-BR" smtClean="0"/>
              <a:t>9</a:t>
            </a:fld>
            <a:endParaRPr lang="en-BR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0C6B497-EF93-EF8D-2927-2C85DAC08B3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BR"/>
              <a:t>Trabalho de Metodologia em Produção Ciêntifica</a:t>
            </a:r>
          </a:p>
        </p:txBody>
      </p:sp>
    </p:spTree>
    <p:extLst>
      <p:ext uri="{BB962C8B-B14F-4D97-AF65-F5344CB8AC3E}">
        <p14:creationId xmlns:p14="http://schemas.microsoft.com/office/powerpoint/2010/main" val="1578926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FA0DD-36B4-09AB-FC3D-2341E062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055AC1-83F4-4083-EC08-D4DB2A7DF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6AB03-C0C7-7DDC-EEA1-296D3428C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69062-EC14-98D2-ECD2-ECD284660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710-99C4-A445-9D5A-3C353E784469}" type="slidenum">
              <a:rPr lang="en-BR" smtClean="0"/>
              <a:t>10</a:t>
            </a:fld>
            <a:endParaRPr lang="en-BR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C1DCF31-60D3-5F72-0AE1-E5A097D57C8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BR"/>
              <a:t>Trabalho de Metodologia em Produção Ciêntifica</a:t>
            </a:r>
          </a:p>
        </p:txBody>
      </p:sp>
    </p:spTree>
    <p:extLst>
      <p:ext uri="{BB962C8B-B14F-4D97-AF65-F5344CB8AC3E}">
        <p14:creationId xmlns:p14="http://schemas.microsoft.com/office/powerpoint/2010/main" val="64475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0D6D-CB81-1B9E-3680-7DF4F300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CFD78-565A-B6FC-2872-E3EADE41C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36536-C16B-937D-4D72-AEDA20483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39142-63E7-0844-59B3-B4C698661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710-99C4-A445-9D5A-3C353E784469}" type="slidenum">
              <a:rPr lang="en-BR" smtClean="0"/>
              <a:t>11</a:t>
            </a:fld>
            <a:endParaRPr lang="en-BR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A74A678-CE8C-E39A-A83A-D2240FA6932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BR"/>
              <a:t>Trabalho de Metodologia em Produção Ciêntifica</a:t>
            </a:r>
          </a:p>
        </p:txBody>
      </p:sp>
    </p:spTree>
    <p:extLst>
      <p:ext uri="{BB962C8B-B14F-4D97-AF65-F5344CB8AC3E}">
        <p14:creationId xmlns:p14="http://schemas.microsoft.com/office/powerpoint/2010/main" val="672136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366D-9E87-77A3-BA0C-5C393D104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732FA-541D-0059-4907-3A36459C1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1D0F4-8705-FC57-0FC5-553C891B1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93D78-566A-62D6-2CCD-C48060B05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710-99C4-A445-9D5A-3C353E784469}" type="slidenum">
              <a:rPr lang="en-BR" smtClean="0"/>
              <a:t>12</a:t>
            </a:fld>
            <a:endParaRPr lang="en-BR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2C4C196-92AE-4842-A3EA-4CFEBF22D69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BR"/>
              <a:t>Trabalho de Metodologia em Produção Ciêntifica</a:t>
            </a:r>
          </a:p>
        </p:txBody>
      </p:sp>
    </p:spTree>
    <p:extLst>
      <p:ext uri="{BB962C8B-B14F-4D97-AF65-F5344CB8AC3E}">
        <p14:creationId xmlns:p14="http://schemas.microsoft.com/office/powerpoint/2010/main" val="2354258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305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499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306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412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444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846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73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540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313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57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60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B1759FEE-A1BF-981D-6302-08D30BD1E157}"/>
              </a:ext>
            </a:extLst>
          </p:cNvPr>
          <p:cNvSpPr txBox="1"/>
          <p:nvPr userDrawn="1"/>
        </p:nvSpPr>
        <p:spPr>
          <a:xfrm>
            <a:off x="204282" y="193631"/>
            <a:ext cx="6011693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" sz="1200" b="1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Trabalho</a:t>
            </a:r>
            <a:r>
              <a:rPr lang="en" sz="12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" sz="1200" b="1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Metodologia</a:t>
            </a:r>
            <a:r>
              <a:rPr lang="en" sz="12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sz="1200" b="1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" sz="12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sz="1200" b="1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Produção</a:t>
            </a:r>
            <a:r>
              <a:rPr lang="en" sz="12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sz="1200" b="1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Ciêntifica</a:t>
            </a:r>
            <a:r>
              <a:rPr lang="en" sz="12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794EF17-83BC-AB16-6958-40EBE39E981D}"/>
              </a:ext>
            </a:extLst>
          </p:cNvPr>
          <p:cNvCxnSpPr>
            <a:cxnSpLocks/>
          </p:cNvCxnSpPr>
          <p:nvPr userDrawn="1"/>
        </p:nvCxnSpPr>
        <p:spPr>
          <a:xfrm>
            <a:off x="278860" y="505475"/>
            <a:ext cx="116342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4E38833-0D57-E180-1730-713C9C62142C}"/>
              </a:ext>
            </a:extLst>
          </p:cNvPr>
          <p:cNvCxnSpPr>
            <a:cxnSpLocks/>
          </p:cNvCxnSpPr>
          <p:nvPr userDrawn="1"/>
        </p:nvCxnSpPr>
        <p:spPr>
          <a:xfrm>
            <a:off x="278860" y="6282201"/>
            <a:ext cx="116342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98F26C5-0C72-6B04-E9DE-63D61AFB4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840" y="6365233"/>
            <a:ext cx="1072300" cy="365125"/>
          </a:xfrm>
          <a:prstGeom prst="rect">
            <a:avLst/>
          </a:prstGeom>
        </p:spPr>
        <p:txBody>
          <a:bodyPr/>
          <a:lstStyle>
            <a:lvl1pPr algn="r">
              <a:defRPr b="0">
                <a:solidFill>
                  <a:srgbClr val="0070C0"/>
                </a:solidFill>
              </a:defRPr>
            </a:lvl1pPr>
          </a:lstStyle>
          <a:p>
            <a:fld id="{040C5910-6898-3F46-B791-FA6C3AAC1BD1}" type="slidenum">
              <a:rPr lang="en-BR" smtClean="0"/>
              <a:pPr/>
              <a:t>‹#›</a:t>
            </a:fld>
            <a:endParaRPr lang="en-BR"/>
          </a:p>
        </p:txBody>
      </p:sp>
      <p:pic>
        <p:nvPicPr>
          <p:cNvPr id="12" name="Picture 9" descr="logo-unb1.png">
            <a:extLst>
              <a:ext uri="{FF2B5EF4-FFF2-40B4-BE49-F238E27FC236}">
                <a16:creationId xmlns:a16="http://schemas.microsoft.com/office/drawing/2014/main" id="{A3FD987E-CF1A-72D2-FD68-8CE133160D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313" y="6415548"/>
            <a:ext cx="975008" cy="303807"/>
          </a:xfrm>
          <a:prstGeom prst="rect">
            <a:avLst/>
          </a:prstGeom>
        </p:spPr>
      </p:pic>
      <p:pic>
        <p:nvPicPr>
          <p:cNvPr id="13" name="Picture 10" descr="logo-ft3.png">
            <a:extLst>
              <a:ext uri="{FF2B5EF4-FFF2-40B4-BE49-F238E27FC236}">
                <a16:creationId xmlns:a16="http://schemas.microsoft.com/office/drawing/2014/main" id="{24CF4BFC-0877-62E9-5143-0CEF2A71B55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60" y="6409106"/>
            <a:ext cx="1079853" cy="303807"/>
          </a:xfrm>
          <a:prstGeom prst="rect">
            <a:avLst/>
          </a:prstGeom>
        </p:spPr>
      </p:pic>
      <p:sp>
        <p:nvSpPr>
          <p:cNvPr id="14" name="TextBox 11">
            <a:extLst>
              <a:ext uri="{FF2B5EF4-FFF2-40B4-BE49-F238E27FC236}">
                <a16:creationId xmlns:a16="http://schemas.microsoft.com/office/drawing/2014/main" id="{36B07D93-D9D8-1F53-1CC6-B68C062DDEB0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2460047" y="6399660"/>
            <a:ext cx="975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600" b="1">
                <a:solidFill>
                  <a:srgbClr val="1662B6"/>
                </a:solidFill>
              </a:rPr>
              <a:t>/PPEE</a:t>
            </a:r>
          </a:p>
        </p:txBody>
      </p:sp>
    </p:spTree>
    <p:extLst>
      <p:ext uri="{BB962C8B-B14F-4D97-AF65-F5344CB8AC3E}">
        <p14:creationId xmlns:p14="http://schemas.microsoft.com/office/powerpoint/2010/main" val="990035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blog/topics/threat-intelligence/2024-zero-day-trend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loud.google.com/security/resources/m-trend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s.google.com/fh/files/blogs/threat_horizons_report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dcast – 45 – OSINT | Securizando">
            <a:extLst>
              <a:ext uri="{FF2B5EF4-FFF2-40B4-BE49-F238E27FC236}">
                <a16:creationId xmlns:a16="http://schemas.microsoft.com/office/drawing/2014/main" id="{F33CEAB7-D3EB-22DE-BAFE-C0D1FE2BA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2" y="1921843"/>
            <a:ext cx="6464300" cy="3568700"/>
          </a:xfrm>
          <a:prstGeom prst="rect">
            <a:avLst/>
          </a:prstGeom>
          <a:noFill/>
          <a:scene3d>
            <a:camera prst="isometricOffAxis1Left">
              <a:rot lat="1080000" lon="30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2AD8A85-147D-F168-2901-62BA6A19BD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6" y="556590"/>
            <a:ext cx="12192005" cy="6891331"/>
          </a:xfrm>
          <a:prstGeom prst="rect">
            <a:avLst/>
          </a:prstGeom>
        </p:spPr>
      </p:pic>
      <p:sp>
        <p:nvSpPr>
          <p:cNvPr id="9" name="Google Shape;69;p16">
            <a:extLst>
              <a:ext uri="{FF2B5EF4-FFF2-40B4-BE49-F238E27FC236}">
                <a16:creationId xmlns:a16="http://schemas.microsoft.com/office/drawing/2014/main" id="{5A89536A-70AB-4B7A-C678-A68EF590ACCD}"/>
              </a:ext>
            </a:extLst>
          </p:cNvPr>
          <p:cNvSpPr txBox="1">
            <a:spLocks/>
          </p:cNvSpPr>
          <p:nvPr/>
        </p:nvSpPr>
        <p:spPr>
          <a:xfrm>
            <a:off x="1006475" y="2365053"/>
            <a:ext cx="9569447" cy="1642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algn="ctr"/>
            <a:r>
              <a:rPr lang="pt-BR" sz="3600" b="1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BUSCA PROATIVA POR SPYWARES EM AMBIENTES WINDOWS BASEADA EM MULTIPLOS AGENTES DE INTELIGÊNCIA ARTIFICIAL</a:t>
            </a:r>
          </a:p>
          <a:p>
            <a:pPr algn="ctr">
              <a:spcBef>
                <a:spcPts val="600"/>
              </a:spcBef>
            </a:pPr>
            <a:endParaRPr lang="pt-BR" sz="2000" dirty="0">
              <a:solidFill>
                <a:schemeClr val="accent5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E9F5A75-FD43-1C3B-009C-12EFE5FD6557}"/>
              </a:ext>
            </a:extLst>
          </p:cNvPr>
          <p:cNvSpPr txBox="1"/>
          <p:nvPr/>
        </p:nvSpPr>
        <p:spPr>
          <a:xfrm>
            <a:off x="3047999" y="4062447"/>
            <a:ext cx="6095998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Aluno</a:t>
            </a:r>
            <a:r>
              <a:rPr lang="en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Paulo Matheus Nicolau Silva</a:t>
            </a:r>
            <a:endParaRPr lang="en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Orientador</a:t>
            </a:r>
            <a:r>
              <a:rPr lang="en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Prof. Dr. </a:t>
            </a:r>
            <a:r>
              <a:rPr lang="e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Daniel Alves da Silva</a:t>
            </a:r>
          </a:p>
          <a:p>
            <a:pPr algn="ctr"/>
            <a:r>
              <a:rPr lang="en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Co-</a:t>
            </a:r>
            <a:r>
              <a:rPr lang="en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Orienteador</a:t>
            </a:r>
            <a:r>
              <a:rPr lang="e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Prof. Dr. Robson de Oliveira Albuquerque</a:t>
            </a:r>
          </a:p>
          <a:p>
            <a:pPr algn="ctr"/>
            <a:r>
              <a:rPr lang="en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Brasília, 11 </a:t>
            </a:r>
            <a:r>
              <a:rPr lang="e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lang="en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julho</a:t>
            </a:r>
            <a:r>
              <a:rPr lang="e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2025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3F07B6B1-7722-D551-CE52-96FF17CFA9EC}"/>
              </a:ext>
            </a:extLst>
          </p:cNvPr>
          <p:cNvCxnSpPr>
            <a:cxnSpLocks/>
          </p:cNvCxnSpPr>
          <p:nvPr/>
        </p:nvCxnSpPr>
        <p:spPr>
          <a:xfrm>
            <a:off x="1327150" y="2166488"/>
            <a:ext cx="9537697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90687BC-8881-B471-3649-B69E583D7662}"/>
              </a:ext>
            </a:extLst>
          </p:cNvPr>
          <p:cNvCxnSpPr>
            <a:cxnSpLocks/>
          </p:cNvCxnSpPr>
          <p:nvPr/>
        </p:nvCxnSpPr>
        <p:spPr>
          <a:xfrm>
            <a:off x="1327150" y="3768088"/>
            <a:ext cx="9537697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0D1A23AE-081F-C415-DFAB-B386F17BC741}"/>
              </a:ext>
            </a:extLst>
          </p:cNvPr>
          <p:cNvSpPr/>
          <p:nvPr/>
        </p:nvSpPr>
        <p:spPr>
          <a:xfrm>
            <a:off x="0" y="5817140"/>
            <a:ext cx="12191996" cy="1047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5B4070E-650A-9346-6B03-FA84B56C6CCD}"/>
              </a:ext>
            </a:extLst>
          </p:cNvPr>
          <p:cNvSpPr txBox="1"/>
          <p:nvPr/>
        </p:nvSpPr>
        <p:spPr>
          <a:xfrm>
            <a:off x="1311274" y="953623"/>
            <a:ext cx="9569447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" sz="24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Mestrado</a:t>
            </a:r>
            <a:r>
              <a:rPr lang="en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sz="24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Profissional</a:t>
            </a:r>
            <a:r>
              <a:rPr lang="en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sz="24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sz="24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Segurança</a:t>
            </a:r>
            <a:r>
              <a:rPr lang="en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sz="24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Cibernética</a:t>
            </a:r>
            <a:endParaRPr lang="en" sz="2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Linha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pesquisa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Segurança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inteligência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Cibernética</a:t>
            </a:r>
            <a:endParaRPr lang="en" dirty="0">
              <a:solidFill>
                <a:schemeClr val="accent5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8767F27-5D7D-343A-1A69-3D2F1E80D6FD}"/>
              </a:ext>
            </a:extLst>
          </p:cNvPr>
          <p:cNvGrpSpPr/>
          <p:nvPr/>
        </p:nvGrpSpPr>
        <p:grpSpPr>
          <a:xfrm>
            <a:off x="3595997" y="6063858"/>
            <a:ext cx="5226993" cy="523220"/>
            <a:chOff x="3605725" y="6054130"/>
            <a:chExt cx="5226993" cy="523220"/>
          </a:xfrm>
        </p:grpSpPr>
        <p:pic>
          <p:nvPicPr>
            <p:cNvPr id="16" name="Picture 9" descr="logo-unb1.png">
              <a:extLst>
                <a:ext uri="{FF2B5EF4-FFF2-40B4-BE49-F238E27FC236}">
                  <a16:creationId xmlns:a16="http://schemas.microsoft.com/office/drawing/2014/main" id="{846A57AF-C2FA-C95E-B7DF-4EA3FD1AA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7767" y="6077355"/>
              <a:ext cx="1571450" cy="489655"/>
            </a:xfrm>
            <a:prstGeom prst="rect">
              <a:avLst/>
            </a:prstGeom>
          </p:spPr>
        </p:pic>
        <p:pic>
          <p:nvPicPr>
            <p:cNvPr id="17" name="Picture 10" descr="logo-ft3.png">
              <a:extLst>
                <a:ext uri="{FF2B5EF4-FFF2-40B4-BE49-F238E27FC236}">
                  <a16:creationId xmlns:a16="http://schemas.microsoft.com/office/drawing/2014/main" id="{FA373D55-F393-2820-F1B9-AFA04D460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5725" y="6070913"/>
              <a:ext cx="1740432" cy="489655"/>
            </a:xfrm>
            <a:prstGeom prst="rect">
              <a:avLst/>
            </a:prstGeom>
          </p:spPr>
        </p:pic>
        <p:sp>
          <p:nvSpPr>
            <p:cNvPr id="18" name="TextBox 11">
              <a:extLst>
                <a:ext uri="{FF2B5EF4-FFF2-40B4-BE49-F238E27FC236}">
                  <a16:creationId xmlns:a16="http://schemas.microsoft.com/office/drawing/2014/main" id="{BB6D2638-51AD-BFA2-19B1-30F66941C54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443890" y="6054130"/>
              <a:ext cx="13888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R" sz="2800" b="1">
                  <a:solidFill>
                    <a:srgbClr val="1662B6"/>
                  </a:solidFill>
                </a:rPr>
                <a:t>/PPEE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492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3A6F-8003-9EBE-2201-D7B1731585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6795" y="741127"/>
            <a:ext cx="6479145" cy="729281"/>
          </a:xfrm>
          <a:prstGeom prst="rect">
            <a:avLst/>
          </a:prstGeom>
        </p:spPr>
        <p:txBody>
          <a:bodyPr/>
          <a:lstStyle/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pt-BR" sz="3200" b="1">
                <a:latin typeface="+mn-lt"/>
              </a:rPr>
              <a:t>AGENDA</a:t>
            </a:r>
            <a:endParaRPr lang="en-BR" sz="3200" b="1">
              <a:latin typeface="+mn-lt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36E0769D-CE30-89D8-ED3C-5D88E2F7048F}"/>
              </a:ext>
            </a:extLst>
          </p:cNvPr>
          <p:cNvSpPr txBox="1">
            <a:spLocks/>
          </p:cNvSpPr>
          <p:nvPr/>
        </p:nvSpPr>
        <p:spPr>
          <a:xfrm>
            <a:off x="308518" y="1320102"/>
            <a:ext cx="10816682" cy="4789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pt-BR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E46F884-D19A-5F30-2058-652F9015E0EB}"/>
              </a:ext>
            </a:extLst>
          </p:cNvPr>
          <p:cNvSpPr txBox="1">
            <a:spLocks/>
          </p:cNvSpPr>
          <p:nvPr/>
        </p:nvSpPr>
        <p:spPr>
          <a:xfrm>
            <a:off x="10840840" y="6365233"/>
            <a:ext cx="1072300" cy="365125"/>
          </a:xfrm>
          <a:prstGeom prst="rect">
            <a:avLst/>
          </a:prstGeom>
        </p:spPr>
        <p:txBody>
          <a:bodyPr/>
          <a:lstStyle>
            <a:defPPr>
              <a:defRPr lang="en-BR"/>
            </a:defPPr>
            <a:lvl1pPr marL="0" algn="r" defTabSz="914400" rtl="0" eaLnBrk="1" latinLnBrk="0" hangingPunct="1">
              <a:defRPr sz="18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0C5910-6898-3F46-B791-FA6C3AAC1BD1}" type="slidenum">
              <a:rPr lang="en-BR" smtClean="0"/>
              <a:pPr/>
              <a:t>2</a:t>
            </a:fld>
            <a:endParaRPr lang="en-B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C5E1BF-78FF-237A-BDD7-27C21DBCB07C}"/>
              </a:ext>
            </a:extLst>
          </p:cNvPr>
          <p:cNvSpPr txBox="1"/>
          <p:nvPr/>
        </p:nvSpPr>
        <p:spPr>
          <a:xfrm>
            <a:off x="1066800" y="1470408"/>
            <a:ext cx="4257832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TEMA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PROBLEMA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TRABALHOS CORRELATOS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OBJETIVO GERAL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OBJETIVOS ESPECÍFICOS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HIPÓTESE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JUSTIFICATIVA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METODOLOGIA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RESULTADOS ESPERADOS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LIMITAÇÕES</a:t>
            </a:r>
          </a:p>
        </p:txBody>
      </p:sp>
    </p:spTree>
    <p:extLst>
      <p:ext uri="{BB962C8B-B14F-4D97-AF65-F5344CB8AC3E}">
        <p14:creationId xmlns:p14="http://schemas.microsoft.com/office/powerpoint/2010/main" val="4288558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BA3256-E59D-728F-488F-12548F214130}"/>
              </a:ext>
            </a:extLst>
          </p:cNvPr>
          <p:cNvSpPr txBox="1">
            <a:spLocks/>
          </p:cNvSpPr>
          <p:nvPr/>
        </p:nvSpPr>
        <p:spPr>
          <a:xfrm>
            <a:off x="10840840" y="6365233"/>
            <a:ext cx="1072300" cy="365125"/>
          </a:xfrm>
          <a:prstGeom prst="rect">
            <a:avLst/>
          </a:prstGeom>
        </p:spPr>
        <p:txBody>
          <a:bodyPr/>
          <a:lstStyle>
            <a:defPPr>
              <a:defRPr lang="en-BR"/>
            </a:defPPr>
            <a:lvl1pPr marL="0" algn="r" defTabSz="914400" rtl="0" eaLnBrk="1" latinLnBrk="0" hangingPunct="1">
              <a:defRPr sz="18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0C5910-6898-3F46-B791-FA6C3AAC1BD1}" type="slidenum">
              <a:rPr lang="en-BR" smtClean="0"/>
              <a:pPr/>
              <a:t>3</a:t>
            </a:fld>
            <a:endParaRPr lang="en-B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EB30171-3CDF-9858-A86A-ADAB8DECCB8C}"/>
              </a:ext>
            </a:extLst>
          </p:cNvPr>
          <p:cNvSpPr txBox="1">
            <a:spLocks/>
          </p:cNvSpPr>
          <p:nvPr/>
        </p:nvSpPr>
        <p:spPr>
          <a:xfrm>
            <a:off x="320241" y="694235"/>
            <a:ext cx="6479145" cy="6972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Clr>
                <a:srgbClr val="0070C0"/>
              </a:buClr>
              <a:buFont typeface="Wingdings" pitchFamily="2" charset="2"/>
              <a:buChar char="ü"/>
            </a:pPr>
            <a:r>
              <a:rPr lang="pt-BR" sz="3200" b="1" dirty="0">
                <a:latin typeface="+mn-lt"/>
              </a:rPr>
              <a:t>TEMA</a:t>
            </a:r>
            <a:endParaRPr lang="en-BR" sz="3200" b="1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2E4A01-1FB5-22A6-3CBD-AE73C80258F0}"/>
              </a:ext>
            </a:extLst>
          </p:cNvPr>
          <p:cNvSpPr txBox="1"/>
          <p:nvPr/>
        </p:nvSpPr>
        <p:spPr>
          <a:xfrm>
            <a:off x="1132015" y="2951946"/>
            <a:ext cx="99279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cs typeface="Calibri" panose="020F0502020204030204" pitchFamily="34" charset="0"/>
              </a:rPr>
              <a:t>BUSCA PROATIVA POR SPYWARES EM AMBIENTES WINDOWS BASEADA EM MULTIPLOS AGENTES DE INTELIGÊNCIA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105837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AC61964-5F60-7CC5-1399-E2A56045E817}"/>
              </a:ext>
            </a:extLst>
          </p:cNvPr>
          <p:cNvSpPr txBox="1">
            <a:spLocks/>
          </p:cNvSpPr>
          <p:nvPr/>
        </p:nvSpPr>
        <p:spPr>
          <a:xfrm>
            <a:off x="10840840" y="6365233"/>
            <a:ext cx="1072300" cy="365125"/>
          </a:xfrm>
          <a:prstGeom prst="rect">
            <a:avLst/>
          </a:prstGeom>
        </p:spPr>
        <p:txBody>
          <a:bodyPr/>
          <a:lstStyle>
            <a:defPPr>
              <a:defRPr lang="en-BR"/>
            </a:defPPr>
            <a:lvl1pPr marL="0" algn="r" defTabSz="914400" rtl="0" eaLnBrk="1" latinLnBrk="0" hangingPunct="1">
              <a:defRPr sz="18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0C5910-6898-3F46-B791-FA6C3AAC1BD1}" type="slidenum">
              <a:rPr lang="en-BR" smtClean="0"/>
              <a:pPr/>
              <a:t>4</a:t>
            </a:fld>
            <a:endParaRPr lang="en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74DC19-F0CE-037C-6892-4773D888F69E}"/>
              </a:ext>
            </a:extLst>
          </p:cNvPr>
          <p:cNvSpPr txBox="1">
            <a:spLocks/>
          </p:cNvSpPr>
          <p:nvPr/>
        </p:nvSpPr>
        <p:spPr>
          <a:xfrm>
            <a:off x="296795" y="741127"/>
            <a:ext cx="6479145" cy="7292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pt-BR" sz="3200" b="1">
                <a:latin typeface="+mn-lt"/>
              </a:rPr>
              <a:t>PROBLEMA</a:t>
            </a:r>
            <a:endParaRPr lang="en-BR" sz="3200" b="1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9B11EA-5C26-AFDC-7B8F-DBAC55CA0139}"/>
              </a:ext>
            </a:extLst>
          </p:cNvPr>
          <p:cNvSpPr txBox="1"/>
          <p:nvPr/>
        </p:nvSpPr>
        <p:spPr>
          <a:xfrm>
            <a:off x="483704" y="1470408"/>
            <a:ext cx="1122459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O </a:t>
            </a:r>
            <a:r>
              <a:rPr lang="en-US" sz="2100" dirty="0" err="1"/>
              <a:t>problema</a:t>
            </a:r>
            <a:r>
              <a:rPr lang="en-US" sz="2100" dirty="0"/>
              <a:t> central da </a:t>
            </a:r>
            <a:r>
              <a:rPr lang="en-US" sz="2100" dirty="0" err="1"/>
              <a:t>cibersegurança</a:t>
            </a:r>
            <a:r>
              <a:rPr lang="en-US" sz="2100" dirty="0"/>
              <a:t> </a:t>
            </a:r>
            <a:r>
              <a:rPr lang="en-US" sz="2100" dirty="0" err="1"/>
              <a:t>contemporânea</a:t>
            </a:r>
            <a:r>
              <a:rPr lang="en-US" sz="2100" dirty="0"/>
              <a:t> reside </a:t>
            </a:r>
            <a:r>
              <a:rPr lang="en-US" sz="2100" dirty="0" err="1"/>
              <a:t>em</a:t>
            </a:r>
            <a:r>
              <a:rPr lang="en-US" sz="2100" dirty="0"/>
              <a:t> um </a:t>
            </a:r>
            <a:r>
              <a:rPr lang="en-US" sz="2100" dirty="0" err="1"/>
              <a:t>duplo</a:t>
            </a:r>
            <a:r>
              <a:rPr lang="en-US" sz="2100" dirty="0"/>
              <a:t> </a:t>
            </a:r>
            <a:r>
              <a:rPr lang="en-US" sz="2100" dirty="0" err="1"/>
              <a:t>desafio</a:t>
            </a:r>
            <a:r>
              <a:rPr lang="en-US" sz="2100" dirty="0"/>
              <a:t>: o </a:t>
            </a:r>
            <a:r>
              <a:rPr lang="en-US" sz="2100" dirty="0" err="1"/>
              <a:t>aumento</a:t>
            </a:r>
            <a:r>
              <a:rPr lang="en-US" sz="2100" dirty="0"/>
              <a:t> </a:t>
            </a:r>
            <a:r>
              <a:rPr lang="en-US" sz="2100" dirty="0" err="1"/>
              <a:t>vertiginoso</a:t>
            </a:r>
            <a:r>
              <a:rPr lang="en-US" sz="2100" dirty="0"/>
              <a:t> </a:t>
            </a:r>
            <a:r>
              <a:rPr lang="en-US" sz="2100" dirty="0" err="1"/>
              <a:t>na</a:t>
            </a:r>
            <a:r>
              <a:rPr lang="en-US" sz="2100" dirty="0"/>
              <a:t> </a:t>
            </a:r>
            <a:r>
              <a:rPr lang="en-US" sz="2100" dirty="0" err="1"/>
              <a:t>frequência</a:t>
            </a:r>
            <a:r>
              <a:rPr lang="en-US" sz="2100" dirty="0"/>
              <a:t> de </a:t>
            </a:r>
            <a:r>
              <a:rPr lang="en-US" sz="2100" dirty="0" err="1"/>
              <a:t>ataques</a:t>
            </a:r>
            <a:r>
              <a:rPr lang="en-US" sz="2100" dirty="0"/>
              <a:t> </a:t>
            </a:r>
            <a:r>
              <a:rPr lang="en-US" sz="2100" dirty="0" err="1"/>
              <a:t>sofisticados</a:t>
            </a:r>
            <a:r>
              <a:rPr lang="en-US" sz="2100" dirty="0"/>
              <a:t> e a </a:t>
            </a:r>
            <a:r>
              <a:rPr lang="en-US" sz="2100" dirty="0" err="1"/>
              <a:t>capacidade</a:t>
            </a:r>
            <a:r>
              <a:rPr lang="en-US" sz="2100" dirty="0"/>
              <a:t> </a:t>
            </a:r>
            <a:r>
              <a:rPr lang="en-US" sz="2100" dirty="0" err="1"/>
              <a:t>desses</a:t>
            </a:r>
            <a:r>
              <a:rPr lang="en-US" sz="2100" dirty="0"/>
              <a:t> </a:t>
            </a:r>
            <a:r>
              <a:rPr lang="en-US" sz="2100" dirty="0" err="1"/>
              <a:t>ataques</a:t>
            </a:r>
            <a:r>
              <a:rPr lang="en-US" sz="2100" dirty="0"/>
              <a:t> de </a:t>
            </a:r>
            <a:r>
              <a:rPr lang="en-US" sz="2100" dirty="0" err="1"/>
              <a:t>permanecerem</a:t>
            </a:r>
            <a:r>
              <a:rPr lang="en-US" sz="2100" dirty="0"/>
              <a:t> </a:t>
            </a:r>
            <a:r>
              <a:rPr lang="en-US" sz="2100" dirty="0" err="1"/>
              <a:t>invisíveis</a:t>
            </a:r>
            <a:r>
              <a:rPr lang="en-US" sz="2100" dirty="0"/>
              <a:t> </a:t>
            </a:r>
            <a:r>
              <a:rPr lang="en-US" sz="2100" dirty="0" err="1"/>
              <a:t>por</a:t>
            </a:r>
            <a:r>
              <a:rPr lang="en-US" sz="2100" dirty="0"/>
              <a:t> </a:t>
            </a:r>
            <a:r>
              <a:rPr lang="en-US" sz="2100" dirty="0" err="1"/>
              <a:t>longos</a:t>
            </a:r>
            <a:r>
              <a:rPr lang="en-US" sz="2100" dirty="0"/>
              <a:t> </a:t>
            </a:r>
            <a:r>
              <a:rPr lang="en-US" sz="2100" dirty="0" err="1"/>
              <a:t>períodos</a:t>
            </a:r>
            <a:r>
              <a:rPr lang="en-US" sz="2100" dirty="0"/>
              <a:t> </a:t>
            </a:r>
            <a:r>
              <a:rPr lang="en-US" sz="2100" dirty="0" err="1"/>
              <a:t>dentro</a:t>
            </a:r>
            <a:r>
              <a:rPr lang="en-US" sz="2100" dirty="0"/>
              <a:t> das redes. O </a:t>
            </a:r>
            <a:r>
              <a:rPr lang="en-US" sz="2100" dirty="0" err="1"/>
              <a:t>relatório</a:t>
            </a:r>
            <a:r>
              <a:rPr lang="en-US" sz="2100" dirty="0"/>
              <a:t> "Hello 0-Days, My Old Friend" do Google </a:t>
            </a:r>
            <a:r>
              <a:rPr lang="en-US" sz="2100" dirty="0" err="1"/>
              <a:t>já</a:t>
            </a:r>
            <a:r>
              <a:rPr lang="en-US" sz="2100" dirty="0"/>
              <a:t> </a:t>
            </a:r>
            <a:r>
              <a:rPr lang="en-US" sz="2100" dirty="0" err="1"/>
              <a:t>estabelece</a:t>
            </a:r>
            <a:r>
              <a:rPr lang="en-US" sz="2100" dirty="0"/>
              <a:t> um </a:t>
            </a:r>
            <a:r>
              <a:rPr lang="en-US" sz="2100" dirty="0" err="1"/>
              <a:t>cenário</a:t>
            </a:r>
            <a:r>
              <a:rPr lang="en-US" sz="2100" dirty="0"/>
              <a:t> </a:t>
            </a:r>
            <a:r>
              <a:rPr lang="en-US" sz="2100" dirty="0" err="1"/>
              <a:t>alarmante</a:t>
            </a:r>
            <a:r>
              <a:rPr lang="en-US" sz="2100" dirty="0"/>
              <a:t>, com </a:t>
            </a:r>
            <a:r>
              <a:rPr lang="en-US" sz="2100" dirty="0" err="1"/>
              <a:t>dezenas</a:t>
            </a:r>
            <a:r>
              <a:rPr lang="en-US" sz="2100" dirty="0"/>
              <a:t> de </a:t>
            </a:r>
            <a:r>
              <a:rPr lang="en-US" sz="2100" dirty="0" err="1"/>
              <a:t>explorações</a:t>
            </a:r>
            <a:r>
              <a:rPr lang="en-US" sz="2100" dirty="0"/>
              <a:t> zero-day </a:t>
            </a:r>
            <a:r>
              <a:rPr lang="en-US" sz="2100" dirty="0" err="1"/>
              <a:t>anualmente</a:t>
            </a:r>
            <a:r>
              <a:rPr lang="en-US" sz="2100" dirty="0"/>
              <a:t> e um </a:t>
            </a:r>
            <a:r>
              <a:rPr lang="en-US" sz="2100" dirty="0" err="1"/>
              <a:t>foco</a:t>
            </a:r>
            <a:r>
              <a:rPr lang="en-US" sz="2100" dirty="0"/>
              <a:t> </a:t>
            </a:r>
            <a:r>
              <a:rPr lang="en-US" sz="2100" dirty="0" err="1"/>
              <a:t>crescente</a:t>
            </a:r>
            <a:r>
              <a:rPr lang="en-US" sz="2100" dirty="0"/>
              <a:t> </a:t>
            </a:r>
            <a:r>
              <a:rPr lang="en-US" sz="2100" dirty="0" err="1"/>
              <a:t>em</a:t>
            </a:r>
            <a:r>
              <a:rPr lang="en-US" sz="2100" dirty="0"/>
              <a:t> </a:t>
            </a:r>
            <a:r>
              <a:rPr lang="en-US" sz="2100" dirty="0" err="1"/>
              <a:t>alvos</a:t>
            </a:r>
            <a:r>
              <a:rPr lang="en-US" sz="2100" dirty="0"/>
              <a:t> </a:t>
            </a:r>
            <a:r>
              <a:rPr lang="en-US" sz="2100" dirty="0" err="1"/>
              <a:t>corporativos</a:t>
            </a:r>
            <a:r>
              <a:rPr lang="en-US" sz="2100" dirty="0"/>
              <a:t> </a:t>
            </a:r>
            <a:r>
              <a:rPr lang="en-US" sz="2100" dirty="0" err="1"/>
              <a:t>por</a:t>
            </a:r>
            <a:r>
              <a:rPr lang="en-US" sz="2100" dirty="0"/>
              <a:t> </a:t>
            </a:r>
            <a:r>
              <a:rPr lang="en-US" sz="2100" dirty="0" err="1"/>
              <a:t>parte</a:t>
            </a:r>
            <a:r>
              <a:rPr lang="en-US" sz="2100" dirty="0"/>
              <a:t> de </a:t>
            </a:r>
            <a:r>
              <a:rPr lang="en-US" sz="2100" dirty="0" err="1"/>
              <a:t>atores</a:t>
            </a:r>
            <a:r>
              <a:rPr lang="en-US" sz="2100" dirty="0"/>
              <a:t> </a:t>
            </a:r>
            <a:r>
              <a:rPr lang="en-US" sz="2100" dirty="0" err="1"/>
              <a:t>avançados</a:t>
            </a:r>
            <a:r>
              <a:rPr lang="en-US" sz="2100" dirty="0"/>
              <a:t>, </a:t>
            </a:r>
            <a:r>
              <a:rPr lang="en-US" sz="2100" dirty="0" err="1"/>
              <a:t>como</a:t>
            </a:r>
            <a:r>
              <a:rPr lang="en-US" sz="2100" dirty="0"/>
              <a:t> </a:t>
            </a:r>
            <a:r>
              <a:rPr lang="en-US" sz="2100" dirty="0" err="1"/>
              <a:t>os</a:t>
            </a:r>
            <a:r>
              <a:rPr lang="en-US" sz="2100" dirty="0"/>
              <a:t> </a:t>
            </a:r>
            <a:r>
              <a:rPr lang="en-US" sz="2100" i="1" dirty="0"/>
              <a:t>Commercial Surveillance Vendors</a:t>
            </a:r>
            <a:r>
              <a:rPr lang="en-US" sz="2100" dirty="0"/>
              <a:t> (GOOGLE, 2025). </a:t>
            </a:r>
            <a:r>
              <a:rPr lang="en-US" sz="2100" dirty="0" err="1"/>
              <a:t>Agravando</a:t>
            </a:r>
            <a:r>
              <a:rPr lang="en-US" sz="2100" dirty="0"/>
              <a:t> </a:t>
            </a:r>
            <a:r>
              <a:rPr lang="en-US" sz="2100" dirty="0" err="1"/>
              <a:t>este</a:t>
            </a:r>
            <a:r>
              <a:rPr lang="en-US" sz="2100" dirty="0"/>
              <a:t> </a:t>
            </a:r>
            <a:r>
              <a:rPr lang="en-US" sz="2100" dirty="0" err="1"/>
              <a:t>quadro</a:t>
            </a:r>
            <a:r>
              <a:rPr lang="en-US" sz="2100" dirty="0"/>
              <a:t>, o novo </a:t>
            </a:r>
            <a:r>
              <a:rPr lang="en-US" sz="2100" dirty="0" err="1"/>
              <a:t>relatório</a:t>
            </a:r>
            <a:r>
              <a:rPr lang="en-US" sz="2100" dirty="0"/>
              <a:t> M-Trends de 2025 da Mandiant </a:t>
            </a:r>
            <a:r>
              <a:rPr lang="en-US" sz="2100" dirty="0" err="1"/>
              <a:t>revela</a:t>
            </a:r>
            <a:r>
              <a:rPr lang="en-US" sz="2100" dirty="0"/>
              <a:t> que o tempo </a:t>
            </a:r>
            <a:r>
              <a:rPr lang="en-US" sz="2100" dirty="0" err="1"/>
              <a:t>médio</a:t>
            </a:r>
            <a:r>
              <a:rPr lang="en-US" sz="2100" dirty="0"/>
              <a:t> para </a:t>
            </a:r>
            <a:r>
              <a:rPr lang="en-US" sz="2100" dirty="0" err="1"/>
              <a:t>detectar</a:t>
            </a:r>
            <a:r>
              <a:rPr lang="en-US" sz="2100" dirty="0"/>
              <a:t> </a:t>
            </a:r>
            <a:r>
              <a:rPr lang="en-US" sz="2100" dirty="0" err="1"/>
              <a:t>uma</a:t>
            </a:r>
            <a:r>
              <a:rPr lang="en-US" sz="2100" dirty="0"/>
              <a:t> </a:t>
            </a:r>
            <a:r>
              <a:rPr lang="en-US" sz="2100" dirty="0" err="1"/>
              <a:t>intrusão</a:t>
            </a:r>
            <a:r>
              <a:rPr lang="en-US" sz="2100" dirty="0"/>
              <a:t> continua </a:t>
            </a:r>
            <a:r>
              <a:rPr lang="en-US" sz="2100" dirty="0" err="1"/>
              <a:t>perigosamente</a:t>
            </a:r>
            <a:r>
              <a:rPr lang="en-US" sz="2100" dirty="0"/>
              <a:t> alto, </a:t>
            </a:r>
            <a:r>
              <a:rPr lang="en-US" sz="2100" dirty="0" err="1"/>
              <a:t>permitindo</a:t>
            </a:r>
            <a:r>
              <a:rPr lang="en-US" sz="2100" dirty="0"/>
              <a:t> que </a:t>
            </a:r>
            <a:r>
              <a:rPr lang="en-US" sz="2100" dirty="0" err="1"/>
              <a:t>adversários</a:t>
            </a:r>
            <a:r>
              <a:rPr lang="en-US" sz="2100" dirty="0"/>
              <a:t> </a:t>
            </a:r>
            <a:r>
              <a:rPr lang="en-US" sz="2100" dirty="0" err="1"/>
              <a:t>operem</a:t>
            </a:r>
            <a:r>
              <a:rPr lang="en-US" sz="2100" dirty="0"/>
              <a:t> </a:t>
            </a:r>
            <a:r>
              <a:rPr lang="en-US" sz="2100" dirty="0" err="1"/>
              <a:t>sem</a:t>
            </a:r>
            <a:r>
              <a:rPr lang="en-US" sz="2100" dirty="0"/>
              <a:t> </a:t>
            </a:r>
            <a:r>
              <a:rPr lang="en-US" sz="2100" dirty="0" err="1"/>
              <a:t>serem</a:t>
            </a:r>
            <a:r>
              <a:rPr lang="en-US" sz="2100" dirty="0"/>
              <a:t> </a:t>
            </a:r>
            <a:r>
              <a:rPr lang="en-US" sz="2100" dirty="0" err="1"/>
              <a:t>detectados</a:t>
            </a:r>
            <a:r>
              <a:rPr lang="en-US" sz="2100" dirty="0"/>
              <a:t> </a:t>
            </a:r>
            <a:r>
              <a:rPr lang="en-US" sz="2100" dirty="0" err="1"/>
              <a:t>por</a:t>
            </a:r>
            <a:r>
              <a:rPr lang="en-US" sz="2100" dirty="0"/>
              <a:t> </a:t>
            </a:r>
            <a:r>
              <a:rPr lang="en-US" sz="2100" dirty="0" err="1"/>
              <a:t>semanas</a:t>
            </a:r>
            <a:r>
              <a:rPr lang="en-US" sz="2100" dirty="0"/>
              <a:t> </a:t>
            </a:r>
            <a:r>
              <a:rPr lang="en-US" sz="2100" dirty="0" err="1"/>
              <a:t>ou</a:t>
            </a:r>
            <a:r>
              <a:rPr lang="en-US" sz="2100" dirty="0"/>
              <a:t> </a:t>
            </a:r>
            <a:r>
              <a:rPr lang="en-US" sz="2100" dirty="0" err="1"/>
              <a:t>até</a:t>
            </a:r>
            <a:r>
              <a:rPr lang="en-US" sz="2100" dirty="0"/>
              <a:t> meses (MANDIANT, 2025). Essa </a:t>
            </a:r>
            <a:r>
              <a:rPr lang="en-US" sz="2100" dirty="0" err="1"/>
              <a:t>combinação</a:t>
            </a:r>
            <a:r>
              <a:rPr lang="en-US" sz="2100" dirty="0"/>
              <a:t> de </a:t>
            </a:r>
            <a:r>
              <a:rPr lang="en-US" sz="2100" dirty="0" err="1"/>
              <a:t>alta</a:t>
            </a:r>
            <a:r>
              <a:rPr lang="en-US" sz="2100" dirty="0"/>
              <a:t> </a:t>
            </a:r>
            <a:r>
              <a:rPr lang="en-US" sz="2100" dirty="0" err="1"/>
              <a:t>frequência</a:t>
            </a:r>
            <a:r>
              <a:rPr lang="en-US" sz="2100" dirty="0"/>
              <a:t> de </a:t>
            </a:r>
            <a:r>
              <a:rPr lang="en-US" sz="2100" dirty="0" err="1"/>
              <a:t>ataques</a:t>
            </a:r>
            <a:r>
              <a:rPr lang="en-US" sz="2100" dirty="0"/>
              <a:t> e longa </a:t>
            </a:r>
            <a:r>
              <a:rPr lang="en-US" sz="2100" dirty="0" err="1"/>
              <a:t>permanência</a:t>
            </a:r>
            <a:r>
              <a:rPr lang="en-US" sz="2100" dirty="0"/>
              <a:t> do </a:t>
            </a:r>
            <a:r>
              <a:rPr lang="en-US" sz="2100" dirty="0" err="1"/>
              <a:t>adversário</a:t>
            </a:r>
            <a:r>
              <a:rPr lang="en-US" sz="2100" dirty="0"/>
              <a:t> </a:t>
            </a:r>
            <a:r>
              <a:rPr lang="en-US" sz="2100" dirty="0" err="1"/>
              <a:t>na</a:t>
            </a:r>
            <a:r>
              <a:rPr lang="en-US" sz="2100" dirty="0"/>
              <a:t> rede </a:t>
            </a:r>
            <a:r>
              <a:rPr lang="en-US" sz="2100" dirty="0" err="1"/>
              <a:t>expõe</a:t>
            </a:r>
            <a:r>
              <a:rPr lang="en-US" sz="2100" dirty="0"/>
              <a:t> </a:t>
            </a:r>
            <a:r>
              <a:rPr lang="en-US" sz="2100" dirty="0" err="1"/>
              <a:t>uma</a:t>
            </a:r>
            <a:r>
              <a:rPr lang="en-US" sz="2100" dirty="0"/>
              <a:t> lacuna </a:t>
            </a:r>
            <a:r>
              <a:rPr lang="en-US" sz="2100" dirty="0" err="1"/>
              <a:t>crítica</a:t>
            </a:r>
            <a:r>
              <a:rPr lang="en-US" sz="2100" dirty="0"/>
              <a:t> que </a:t>
            </a:r>
            <a:r>
              <a:rPr lang="en-US" sz="2100" dirty="0" err="1"/>
              <a:t>os</a:t>
            </a:r>
            <a:r>
              <a:rPr lang="en-US" sz="2100" dirty="0"/>
              <a:t> </a:t>
            </a:r>
            <a:r>
              <a:rPr lang="en-US" sz="2100" dirty="0" err="1"/>
              <a:t>sistemas</a:t>
            </a:r>
            <a:r>
              <a:rPr lang="en-US" sz="2100" dirty="0"/>
              <a:t> de </a:t>
            </a:r>
            <a:r>
              <a:rPr lang="en-US" sz="2100" dirty="0" err="1"/>
              <a:t>segurança</a:t>
            </a:r>
            <a:r>
              <a:rPr lang="en-US" sz="2100" dirty="0"/>
              <a:t> </a:t>
            </a:r>
            <a:r>
              <a:rPr lang="en-US" sz="2100" dirty="0" err="1"/>
              <a:t>tradicionais</a:t>
            </a:r>
            <a:r>
              <a:rPr lang="en-US" sz="2100" dirty="0"/>
              <a:t>, </a:t>
            </a:r>
            <a:r>
              <a:rPr lang="en-US" sz="2100" dirty="0" err="1"/>
              <a:t>focados</a:t>
            </a:r>
            <a:r>
              <a:rPr lang="en-US" sz="2100" dirty="0"/>
              <a:t> </a:t>
            </a:r>
            <a:r>
              <a:rPr lang="en-US" sz="2100" dirty="0" err="1"/>
              <a:t>em</a:t>
            </a:r>
            <a:r>
              <a:rPr lang="en-US" sz="2100" dirty="0"/>
              <a:t> </a:t>
            </a:r>
            <a:r>
              <a:rPr lang="en-US" sz="2100" dirty="0" err="1"/>
              <a:t>ameaças</a:t>
            </a:r>
            <a:r>
              <a:rPr lang="en-US" sz="2100" dirty="0"/>
              <a:t> </a:t>
            </a:r>
            <a:r>
              <a:rPr lang="en-US" sz="2100" dirty="0" err="1"/>
              <a:t>conhecidas</a:t>
            </a:r>
            <a:r>
              <a:rPr lang="en-US" sz="2100" dirty="0"/>
              <a:t>, </a:t>
            </a:r>
            <a:r>
              <a:rPr lang="en-US" sz="2100" dirty="0" err="1"/>
              <a:t>não</a:t>
            </a:r>
            <a:r>
              <a:rPr lang="en-US" sz="2100" dirty="0"/>
              <a:t> </a:t>
            </a:r>
            <a:r>
              <a:rPr lang="en-US" sz="2100" dirty="0" err="1"/>
              <a:t>conseguem</a:t>
            </a:r>
            <a:r>
              <a:rPr lang="en-US" sz="2100" dirty="0"/>
              <a:t> </a:t>
            </a:r>
            <a:r>
              <a:rPr lang="en-US" sz="2100" dirty="0" err="1"/>
              <a:t>mais</a:t>
            </a:r>
            <a:r>
              <a:rPr lang="en-US" sz="2100" dirty="0"/>
              <a:t> </a:t>
            </a:r>
            <a:r>
              <a:rPr lang="en-US" sz="2100" dirty="0" err="1"/>
              <a:t>suprir</a:t>
            </a:r>
            <a:r>
              <a:rPr lang="en-US" sz="2100" dirty="0"/>
              <a:t> de forma </a:t>
            </a:r>
            <a:r>
              <a:rPr lang="en-US" sz="2100" dirty="0" err="1"/>
              <a:t>eficaz</a:t>
            </a:r>
            <a:r>
              <a:rPr lang="en-US" sz="21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F1E80-359C-E57F-87AF-843F0B3C34E0}"/>
              </a:ext>
            </a:extLst>
          </p:cNvPr>
          <p:cNvSpPr txBox="1"/>
          <p:nvPr/>
        </p:nvSpPr>
        <p:spPr>
          <a:xfrm>
            <a:off x="483704" y="5141843"/>
            <a:ext cx="1122459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GOOGLE. </a:t>
            </a:r>
            <a:r>
              <a:rPr lang="en-US" sz="1100" b="1" dirty="0"/>
              <a:t>Hello 0-Days, My Old Friend: A 2024 Zero-Day Exploitation Analysis</a:t>
            </a:r>
            <a:r>
              <a:rPr lang="en-US" sz="1100" dirty="0"/>
              <a:t>. Google for Cloud Blog, 24 abr. 2025. </a:t>
            </a:r>
            <a:r>
              <a:rPr lang="en-US" sz="1100" dirty="0" err="1"/>
              <a:t>Disponível</a:t>
            </a:r>
            <a:r>
              <a:rPr lang="en-US" sz="1100" dirty="0"/>
              <a:t> </a:t>
            </a:r>
            <a:r>
              <a:rPr lang="en-US" sz="1100" dirty="0" err="1"/>
              <a:t>em</a:t>
            </a:r>
            <a:r>
              <a:rPr lang="en-US" sz="1100" dirty="0"/>
              <a:t>: </a:t>
            </a:r>
            <a:r>
              <a:rPr lang="en-US" sz="1100" dirty="0">
                <a:hlinkClick r:id="rId3"/>
              </a:rPr>
              <a:t>https://cloud.google.com/blog/topics/threat-intelligence/2024-zero-day-trends</a:t>
            </a:r>
            <a:r>
              <a:rPr lang="en-US" sz="1100" dirty="0"/>
              <a:t>. </a:t>
            </a:r>
            <a:r>
              <a:rPr lang="en-US" sz="1100" dirty="0" err="1"/>
              <a:t>Acesso</a:t>
            </a:r>
            <a:r>
              <a:rPr lang="en-US" sz="1100" dirty="0"/>
              <a:t> </a:t>
            </a:r>
            <a:r>
              <a:rPr lang="en-US" sz="1100" dirty="0" err="1"/>
              <a:t>em</a:t>
            </a:r>
            <a:r>
              <a:rPr lang="en-US" sz="1100" dirty="0"/>
              <a:t>: 10 </a:t>
            </a:r>
            <a:r>
              <a:rPr lang="en-US" sz="1100" dirty="0" err="1"/>
              <a:t>jul.</a:t>
            </a:r>
            <a:r>
              <a:rPr lang="en-US" sz="1100" dirty="0"/>
              <a:t> 2025.</a:t>
            </a:r>
          </a:p>
          <a:p>
            <a:r>
              <a:rPr lang="en-US" sz="1100" dirty="0"/>
              <a:t>MANDIANT. </a:t>
            </a:r>
            <a:r>
              <a:rPr lang="en-US" sz="1100" b="1" dirty="0"/>
              <a:t>M-Trends 2025: A View From the Front Lines</a:t>
            </a:r>
            <a:r>
              <a:rPr lang="en-US" sz="1100" dirty="0"/>
              <a:t>. Reston, VA: Google Cloud, abr. 2025. </a:t>
            </a:r>
            <a:r>
              <a:rPr lang="en-US" sz="1100" dirty="0" err="1"/>
              <a:t>Disponível</a:t>
            </a:r>
            <a:r>
              <a:rPr lang="en-US" sz="1100" dirty="0"/>
              <a:t> </a:t>
            </a:r>
            <a:r>
              <a:rPr lang="en-US" sz="1100" dirty="0" err="1"/>
              <a:t>em</a:t>
            </a:r>
            <a:r>
              <a:rPr lang="en-US" sz="1100" dirty="0"/>
              <a:t>: </a:t>
            </a:r>
            <a:r>
              <a:rPr lang="en-US" sz="1100" dirty="0">
                <a:hlinkClick r:id="rId4"/>
              </a:rPr>
              <a:t>https://cloud.google.com/security/resources/m-trends</a:t>
            </a:r>
            <a:r>
              <a:rPr lang="en-US" sz="1100" dirty="0"/>
              <a:t>. </a:t>
            </a:r>
            <a:r>
              <a:rPr lang="en-US" sz="1100" dirty="0" err="1"/>
              <a:t>Acesso</a:t>
            </a:r>
            <a:r>
              <a:rPr lang="en-US" sz="1100" dirty="0"/>
              <a:t> </a:t>
            </a:r>
            <a:r>
              <a:rPr lang="en-US" sz="1100" dirty="0" err="1"/>
              <a:t>em</a:t>
            </a:r>
            <a:r>
              <a:rPr lang="en-US" sz="1100" dirty="0"/>
              <a:t>: 10 </a:t>
            </a:r>
            <a:r>
              <a:rPr lang="en-US" sz="1100" dirty="0" err="1"/>
              <a:t>jul.</a:t>
            </a:r>
            <a:r>
              <a:rPr lang="en-US" sz="1100" dirty="0"/>
              <a:t> 2025.</a:t>
            </a:r>
          </a:p>
        </p:txBody>
      </p:sp>
    </p:spTree>
    <p:extLst>
      <p:ext uri="{BB962C8B-B14F-4D97-AF65-F5344CB8AC3E}">
        <p14:creationId xmlns:p14="http://schemas.microsoft.com/office/powerpoint/2010/main" val="37410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35393-8DB8-6B58-A3CA-BCB01E175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70B3B9E-E311-1A3F-43D8-2E61C32C9274}"/>
              </a:ext>
            </a:extLst>
          </p:cNvPr>
          <p:cNvSpPr txBox="1">
            <a:spLocks/>
          </p:cNvSpPr>
          <p:nvPr/>
        </p:nvSpPr>
        <p:spPr>
          <a:xfrm>
            <a:off x="10840840" y="6365233"/>
            <a:ext cx="1072300" cy="365125"/>
          </a:xfrm>
          <a:prstGeom prst="rect">
            <a:avLst/>
          </a:prstGeom>
        </p:spPr>
        <p:txBody>
          <a:bodyPr/>
          <a:lstStyle>
            <a:defPPr>
              <a:defRPr lang="en-BR"/>
            </a:defPPr>
            <a:lvl1pPr marL="0" algn="r" defTabSz="914400" rtl="0" eaLnBrk="1" latinLnBrk="0" hangingPunct="1">
              <a:defRPr sz="18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0C5910-6898-3F46-B791-FA6C3AAC1BD1}" type="slidenum">
              <a:rPr lang="en-BR" smtClean="0"/>
              <a:pPr/>
              <a:t>5</a:t>
            </a:fld>
            <a:endParaRPr lang="en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C519A9-877B-ED9E-6EE3-76D51914C2E2}"/>
              </a:ext>
            </a:extLst>
          </p:cNvPr>
          <p:cNvSpPr txBox="1">
            <a:spLocks/>
          </p:cNvSpPr>
          <p:nvPr/>
        </p:nvSpPr>
        <p:spPr>
          <a:xfrm>
            <a:off x="296795" y="741127"/>
            <a:ext cx="6479145" cy="7292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pt-BR" sz="3200" b="1" dirty="0">
                <a:latin typeface="+mn-lt"/>
              </a:rPr>
              <a:t>TRABALHOS CORRELATOS</a:t>
            </a:r>
            <a:endParaRPr lang="en-BR" sz="3200" b="1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8E4342-A4A8-9408-8ADF-1DEAC3C10A6F}"/>
              </a:ext>
            </a:extLst>
          </p:cNvPr>
          <p:cNvSpPr txBox="1"/>
          <p:nvPr/>
        </p:nvSpPr>
        <p:spPr>
          <a:xfrm>
            <a:off x="483704" y="1249977"/>
            <a:ext cx="11224591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/>
              <a:t>Este </a:t>
            </a:r>
            <a:r>
              <a:rPr lang="en-US" sz="1900" dirty="0" err="1"/>
              <a:t>trabalho</a:t>
            </a:r>
            <a:r>
              <a:rPr lang="en-US" sz="1900" dirty="0"/>
              <a:t> </a:t>
            </a:r>
            <a:r>
              <a:rPr lang="en-US" sz="1900" dirty="0" err="1"/>
              <a:t>fundamenta</a:t>
            </a:r>
            <a:r>
              <a:rPr lang="en-US" sz="1900" dirty="0"/>
              <a:t>-se </a:t>
            </a:r>
            <a:r>
              <a:rPr lang="en-US" sz="1900" dirty="0" err="1"/>
              <a:t>na</a:t>
            </a:r>
            <a:r>
              <a:rPr lang="en-US" sz="1900" dirty="0"/>
              <a:t> </a:t>
            </a:r>
            <a:r>
              <a:rPr lang="en-US" sz="1900" dirty="0" err="1"/>
              <a:t>convergência</a:t>
            </a:r>
            <a:r>
              <a:rPr lang="en-US" sz="1900" dirty="0"/>
              <a:t> de </a:t>
            </a:r>
            <a:r>
              <a:rPr lang="en-US" sz="1900" dirty="0" err="1"/>
              <a:t>pesquisas</a:t>
            </a:r>
            <a:r>
              <a:rPr lang="en-US" sz="1900" dirty="0"/>
              <a:t> </a:t>
            </a:r>
            <a:r>
              <a:rPr lang="en-US" sz="1900" dirty="0" err="1"/>
              <a:t>consolidadas</a:t>
            </a:r>
            <a:r>
              <a:rPr lang="en-US" sz="1900" dirty="0"/>
              <a:t> no campo da </a:t>
            </a:r>
            <a:r>
              <a:rPr lang="en-US" sz="1900" dirty="0" err="1"/>
              <a:t>cibersegurança</a:t>
            </a:r>
            <a:r>
              <a:rPr lang="en-US" sz="1900" dirty="0"/>
              <a:t>. A </a:t>
            </a:r>
            <a:r>
              <a:rPr lang="en-US" sz="1900" dirty="0" err="1"/>
              <a:t>literatura</a:t>
            </a:r>
            <a:r>
              <a:rPr lang="en-US" sz="1900" dirty="0"/>
              <a:t> </a:t>
            </a:r>
            <a:r>
              <a:rPr lang="en-US" sz="1900" dirty="0" err="1"/>
              <a:t>demonstra</a:t>
            </a:r>
            <a:r>
              <a:rPr lang="en-US" sz="1900" dirty="0"/>
              <a:t> que </a:t>
            </a:r>
            <a:r>
              <a:rPr lang="en-US" sz="1900" dirty="0" err="1"/>
              <a:t>sistemas</a:t>
            </a:r>
            <a:r>
              <a:rPr lang="en-US" sz="1900" dirty="0"/>
              <a:t> multi-</a:t>
            </a:r>
            <a:r>
              <a:rPr lang="en-US" sz="1900" dirty="0" err="1"/>
              <a:t>agente</a:t>
            </a:r>
            <a:r>
              <a:rPr lang="en-US" sz="1900" dirty="0"/>
              <a:t> </a:t>
            </a:r>
            <a:r>
              <a:rPr lang="en-US" sz="1900" dirty="0" err="1"/>
              <a:t>apresentam</a:t>
            </a:r>
            <a:r>
              <a:rPr lang="en-US" sz="1900" dirty="0"/>
              <a:t> </a:t>
            </a:r>
            <a:r>
              <a:rPr lang="en-US" sz="1900" dirty="0" err="1"/>
              <a:t>eficácia</a:t>
            </a:r>
            <a:r>
              <a:rPr lang="en-US" sz="1900" dirty="0"/>
              <a:t> </a:t>
            </a:r>
            <a:r>
              <a:rPr lang="en-US" sz="1900" dirty="0" err="1"/>
              <a:t>significativa</a:t>
            </a:r>
            <a:r>
              <a:rPr lang="en-US" sz="1900" dirty="0"/>
              <a:t> </a:t>
            </a:r>
            <a:r>
              <a:rPr lang="en-US" sz="1900" dirty="0" err="1"/>
              <a:t>na</a:t>
            </a:r>
            <a:r>
              <a:rPr lang="en-US" sz="1900" dirty="0"/>
              <a:t> </a:t>
            </a:r>
            <a:r>
              <a:rPr lang="en-US" sz="1900" dirty="0" err="1"/>
              <a:t>detecção</a:t>
            </a:r>
            <a:r>
              <a:rPr lang="en-US" sz="1900" dirty="0"/>
              <a:t> de </a:t>
            </a:r>
            <a:r>
              <a:rPr lang="en-US" sz="1900" dirty="0" err="1"/>
              <a:t>ameaças</a:t>
            </a:r>
            <a:r>
              <a:rPr lang="en-US" sz="1900" dirty="0"/>
              <a:t> </a:t>
            </a:r>
            <a:r>
              <a:rPr lang="en-US" sz="1900" dirty="0" err="1"/>
              <a:t>através</a:t>
            </a:r>
            <a:r>
              <a:rPr lang="en-US" sz="1900" dirty="0"/>
              <a:t> de </a:t>
            </a:r>
            <a:r>
              <a:rPr lang="en-US" sz="1900" dirty="0" err="1"/>
              <a:t>agentes</a:t>
            </a:r>
            <a:r>
              <a:rPr lang="en-US" sz="1900" dirty="0"/>
              <a:t> </a:t>
            </a:r>
            <a:r>
              <a:rPr lang="en-US" sz="1900" dirty="0" err="1"/>
              <a:t>especializados</a:t>
            </a:r>
            <a:r>
              <a:rPr lang="en-US" sz="1900" dirty="0"/>
              <a:t> (FINISTRELLA; MARIANI; ZAMBONELLI, 2025). </a:t>
            </a:r>
            <a:r>
              <a:rPr lang="en-US" sz="1900" dirty="0" err="1"/>
              <a:t>Pesquisas</a:t>
            </a:r>
            <a:r>
              <a:rPr lang="en-US" sz="1900" dirty="0"/>
              <a:t> </a:t>
            </a:r>
            <a:r>
              <a:rPr lang="en-US" sz="1900" dirty="0" err="1"/>
              <a:t>recentes</a:t>
            </a:r>
            <a:r>
              <a:rPr lang="en-US" sz="1900" dirty="0"/>
              <a:t> </a:t>
            </a:r>
            <a:r>
              <a:rPr lang="en-US" sz="1900" dirty="0" err="1"/>
              <a:t>evidenciam</a:t>
            </a:r>
            <a:r>
              <a:rPr lang="en-US" sz="1900" dirty="0"/>
              <a:t> que </a:t>
            </a:r>
            <a:r>
              <a:rPr lang="en-US" sz="1900" dirty="0" err="1"/>
              <a:t>agentes</a:t>
            </a:r>
            <a:r>
              <a:rPr lang="en-US" sz="1900" dirty="0"/>
              <a:t> </a:t>
            </a:r>
            <a:r>
              <a:rPr lang="en-US" sz="1900" dirty="0" err="1"/>
              <a:t>equipados</a:t>
            </a:r>
            <a:r>
              <a:rPr lang="en-US" sz="1900" dirty="0"/>
              <a:t> com </a:t>
            </a:r>
            <a:r>
              <a:rPr lang="en-US" sz="1900" dirty="0" err="1"/>
              <a:t>modelos</a:t>
            </a:r>
            <a:r>
              <a:rPr lang="en-US" sz="1900" dirty="0"/>
              <a:t> de </a:t>
            </a:r>
            <a:r>
              <a:rPr lang="en-US" sz="1900" dirty="0" err="1"/>
              <a:t>aprendizado</a:t>
            </a:r>
            <a:r>
              <a:rPr lang="en-US" sz="1900" dirty="0"/>
              <a:t> profundo </a:t>
            </a:r>
            <a:r>
              <a:rPr lang="en-US" sz="1900" dirty="0" err="1"/>
              <a:t>alcançam</a:t>
            </a:r>
            <a:r>
              <a:rPr lang="en-US" sz="1900" dirty="0"/>
              <a:t> </a:t>
            </a:r>
            <a:r>
              <a:rPr lang="en-US" sz="1900" dirty="0" err="1"/>
              <a:t>precisão</a:t>
            </a:r>
            <a:r>
              <a:rPr lang="en-US" sz="1900" dirty="0"/>
              <a:t> </a:t>
            </a:r>
            <a:r>
              <a:rPr lang="en-US" sz="1900" dirty="0" err="1"/>
              <a:t>elevada</a:t>
            </a:r>
            <a:r>
              <a:rPr lang="en-US" sz="1900" dirty="0"/>
              <a:t> </a:t>
            </a:r>
            <a:r>
              <a:rPr lang="en-US" sz="1900" dirty="0" err="1"/>
              <a:t>na</a:t>
            </a:r>
            <a:r>
              <a:rPr lang="en-US" sz="1900" dirty="0"/>
              <a:t> </a:t>
            </a:r>
            <a:r>
              <a:rPr lang="en-US" sz="1900" dirty="0" err="1"/>
              <a:t>identificação</a:t>
            </a:r>
            <a:r>
              <a:rPr lang="en-US" sz="1900" dirty="0"/>
              <a:t> de </a:t>
            </a:r>
            <a:r>
              <a:rPr lang="en-US" sz="1900" dirty="0" err="1"/>
              <a:t>comportamentos</a:t>
            </a:r>
            <a:r>
              <a:rPr lang="en-US" sz="1900" dirty="0"/>
              <a:t> </a:t>
            </a:r>
            <a:r>
              <a:rPr lang="en-US" sz="1900" dirty="0" err="1"/>
              <a:t>maliciosos</a:t>
            </a:r>
            <a:r>
              <a:rPr lang="en-US" sz="1900" dirty="0"/>
              <a:t> </a:t>
            </a:r>
            <a:r>
              <a:rPr lang="en-US" sz="1900" dirty="0" err="1"/>
              <a:t>em</a:t>
            </a:r>
            <a:r>
              <a:rPr lang="en-US" sz="1900" dirty="0"/>
              <a:t> malwares (NAZIM et al., 2025). </a:t>
            </a:r>
            <a:r>
              <a:rPr lang="en-US" sz="1900" dirty="0" err="1"/>
              <a:t>Estudos</a:t>
            </a:r>
            <a:r>
              <a:rPr lang="en-US" sz="1900" dirty="0"/>
              <a:t> </a:t>
            </a:r>
            <a:r>
              <a:rPr lang="en-US" sz="1900" dirty="0" err="1"/>
              <a:t>sobre</a:t>
            </a:r>
            <a:r>
              <a:rPr lang="en-US" sz="1900" dirty="0"/>
              <a:t> </a:t>
            </a:r>
            <a:r>
              <a:rPr lang="en-US" sz="1900" dirty="0" err="1"/>
              <a:t>análise</a:t>
            </a:r>
            <a:r>
              <a:rPr lang="en-US" sz="1900" dirty="0"/>
              <a:t> </a:t>
            </a:r>
            <a:r>
              <a:rPr lang="en-US" sz="1900" dirty="0" err="1"/>
              <a:t>comportamental</a:t>
            </a:r>
            <a:r>
              <a:rPr lang="en-US" sz="1900" dirty="0"/>
              <a:t> </a:t>
            </a:r>
            <a:r>
              <a:rPr lang="en-US" sz="1900" dirty="0" err="1"/>
              <a:t>distribuída</a:t>
            </a:r>
            <a:r>
              <a:rPr lang="en-US" sz="1900" dirty="0"/>
              <a:t> </a:t>
            </a:r>
            <a:r>
              <a:rPr lang="en-US" sz="1900" dirty="0" err="1"/>
              <a:t>revelam</a:t>
            </a:r>
            <a:r>
              <a:rPr lang="en-US" sz="1900" dirty="0"/>
              <a:t> </a:t>
            </a:r>
            <a:r>
              <a:rPr lang="en-US" sz="1900" dirty="0" err="1"/>
              <a:t>sua</a:t>
            </a:r>
            <a:r>
              <a:rPr lang="en-US" sz="1900" dirty="0"/>
              <a:t> </a:t>
            </a:r>
            <a:r>
              <a:rPr lang="en-US" sz="1900" dirty="0" err="1"/>
              <a:t>importância</a:t>
            </a:r>
            <a:r>
              <a:rPr lang="en-US" sz="1900" dirty="0"/>
              <a:t> para </a:t>
            </a:r>
            <a:r>
              <a:rPr lang="en-US" sz="1900" dirty="0" err="1"/>
              <a:t>correlacionar</a:t>
            </a:r>
            <a:r>
              <a:rPr lang="en-US" sz="1900" dirty="0"/>
              <a:t> </a:t>
            </a:r>
            <a:r>
              <a:rPr lang="en-US" sz="1900" dirty="0" err="1"/>
              <a:t>eventos</a:t>
            </a:r>
            <a:r>
              <a:rPr lang="en-US" sz="1900" dirty="0"/>
              <a:t> e </a:t>
            </a:r>
            <a:r>
              <a:rPr lang="en-US" sz="1900" dirty="0" err="1"/>
              <a:t>detectar</a:t>
            </a:r>
            <a:r>
              <a:rPr lang="en-US" sz="1900" dirty="0"/>
              <a:t> </a:t>
            </a:r>
            <a:r>
              <a:rPr lang="en-US" sz="1900" dirty="0" err="1"/>
              <a:t>padrões</a:t>
            </a:r>
            <a:r>
              <a:rPr lang="en-US" sz="1900" dirty="0"/>
              <a:t> </a:t>
            </a:r>
            <a:r>
              <a:rPr lang="en-US" sz="1900" dirty="0" err="1"/>
              <a:t>anômalos</a:t>
            </a:r>
            <a:r>
              <a:rPr lang="en-US" sz="1900" dirty="0"/>
              <a:t> </a:t>
            </a:r>
            <a:r>
              <a:rPr lang="en-US" sz="1900" dirty="0" err="1"/>
              <a:t>através</a:t>
            </a:r>
            <a:r>
              <a:rPr lang="en-US" sz="1900" dirty="0"/>
              <a:t> de </a:t>
            </a:r>
            <a:r>
              <a:rPr lang="en-US" sz="1900" dirty="0" err="1"/>
              <a:t>múltiplos</a:t>
            </a:r>
            <a:r>
              <a:rPr lang="en-US" sz="1900" dirty="0"/>
              <a:t> </a:t>
            </a:r>
            <a:r>
              <a:rPr lang="en-US" sz="1900" dirty="0" err="1"/>
              <a:t>pontos</a:t>
            </a:r>
            <a:r>
              <a:rPr lang="en-US" sz="1900" dirty="0"/>
              <a:t> de </a:t>
            </a:r>
            <a:r>
              <a:rPr lang="en-US" sz="1900" dirty="0" err="1"/>
              <a:t>observação</a:t>
            </a:r>
            <a:r>
              <a:rPr lang="en-US" sz="1900" dirty="0"/>
              <a:t> (MOHAMED, 2025). </a:t>
            </a:r>
            <a:r>
              <a:rPr lang="en-US" sz="1900" dirty="0" err="1"/>
              <a:t>Adicionalmente</a:t>
            </a:r>
            <a:r>
              <a:rPr lang="en-US" sz="1900" dirty="0"/>
              <a:t>, </a:t>
            </a:r>
            <a:r>
              <a:rPr lang="en-US" sz="1900" dirty="0" err="1"/>
              <a:t>técnicas</a:t>
            </a:r>
            <a:r>
              <a:rPr lang="en-US" sz="1900" dirty="0"/>
              <a:t> </a:t>
            </a:r>
            <a:r>
              <a:rPr lang="en-US" sz="1900" dirty="0" err="1"/>
              <a:t>proativas</a:t>
            </a:r>
            <a:r>
              <a:rPr lang="en-US" sz="1900" dirty="0"/>
              <a:t> de </a:t>
            </a:r>
            <a:r>
              <a:rPr lang="en-US" sz="1900" dirty="0" err="1"/>
              <a:t>busca</a:t>
            </a:r>
            <a:r>
              <a:rPr lang="en-US" sz="1900" dirty="0"/>
              <a:t> </a:t>
            </a:r>
            <a:r>
              <a:rPr lang="en-US" sz="1900" dirty="0" err="1"/>
              <a:t>por</a:t>
            </a:r>
            <a:r>
              <a:rPr lang="en-US" sz="1900" dirty="0"/>
              <a:t> </a:t>
            </a:r>
            <a:r>
              <a:rPr lang="en-US" sz="1900" dirty="0" err="1"/>
              <a:t>ameaças</a:t>
            </a:r>
            <a:r>
              <a:rPr lang="en-US" sz="1900" dirty="0"/>
              <a:t> </a:t>
            </a:r>
            <a:r>
              <a:rPr lang="en-US" sz="1900" dirty="0" err="1"/>
              <a:t>têm</a:t>
            </a:r>
            <a:r>
              <a:rPr lang="en-US" sz="1900" dirty="0"/>
              <a:t> se </a:t>
            </a:r>
            <a:r>
              <a:rPr lang="en-US" sz="1900" dirty="0" err="1"/>
              <a:t>mostrado</a:t>
            </a:r>
            <a:r>
              <a:rPr lang="en-US" sz="1900" dirty="0"/>
              <a:t> </a:t>
            </a:r>
            <a:r>
              <a:rPr lang="en-US" sz="1900" dirty="0" err="1"/>
              <a:t>fundamentais</a:t>
            </a:r>
            <a:r>
              <a:rPr lang="en-US" sz="1900" dirty="0"/>
              <a:t> para </a:t>
            </a:r>
            <a:r>
              <a:rPr lang="en-US" sz="1900" dirty="0" err="1"/>
              <a:t>superar</a:t>
            </a:r>
            <a:r>
              <a:rPr lang="en-US" sz="1900" dirty="0"/>
              <a:t> as </a:t>
            </a:r>
            <a:r>
              <a:rPr lang="en-US" sz="1900" dirty="0" err="1"/>
              <a:t>limitações</a:t>
            </a:r>
            <a:r>
              <a:rPr lang="en-US" sz="1900" dirty="0"/>
              <a:t> dos </a:t>
            </a:r>
            <a:r>
              <a:rPr lang="en-US" sz="1900" dirty="0" err="1"/>
              <a:t>métodos</a:t>
            </a:r>
            <a:r>
              <a:rPr lang="en-US" sz="1900" dirty="0"/>
              <a:t> </a:t>
            </a:r>
            <a:r>
              <a:rPr lang="en-US" sz="1900" dirty="0" err="1"/>
              <a:t>reativos</a:t>
            </a:r>
            <a:r>
              <a:rPr lang="en-US" sz="1900" dirty="0"/>
              <a:t> </a:t>
            </a:r>
            <a:r>
              <a:rPr lang="en-US" sz="1900" dirty="0" err="1"/>
              <a:t>tradicionais</a:t>
            </a:r>
            <a:r>
              <a:rPr lang="en-US" sz="1900" dirty="0"/>
              <a:t>, </a:t>
            </a:r>
            <a:r>
              <a:rPr lang="en-US" sz="1900" dirty="0" err="1"/>
              <a:t>especialmente</a:t>
            </a:r>
            <a:r>
              <a:rPr lang="en-US" sz="1900" dirty="0"/>
              <a:t> </a:t>
            </a:r>
            <a:r>
              <a:rPr lang="en-US" sz="1900" dirty="0" err="1"/>
              <a:t>na</a:t>
            </a:r>
            <a:r>
              <a:rPr lang="en-US" sz="1900" dirty="0"/>
              <a:t> </a:t>
            </a:r>
            <a:r>
              <a:rPr lang="en-US" sz="1900" dirty="0" err="1"/>
              <a:t>identificação</a:t>
            </a:r>
            <a:r>
              <a:rPr lang="en-US" sz="1900" dirty="0"/>
              <a:t> de spywares </a:t>
            </a:r>
            <a:r>
              <a:rPr lang="en-US" sz="1900" dirty="0" err="1"/>
              <a:t>evasivos</a:t>
            </a:r>
            <a:r>
              <a:rPr lang="en-US" sz="1900" dirty="0"/>
              <a:t> </a:t>
            </a:r>
            <a:r>
              <a:rPr lang="en-US" sz="1900" dirty="0" err="1"/>
              <a:t>em</a:t>
            </a:r>
            <a:r>
              <a:rPr lang="en-US" sz="1900" dirty="0"/>
              <a:t> ambientes </a:t>
            </a:r>
            <a:r>
              <a:rPr lang="en-US" sz="1900" dirty="0" err="1"/>
              <a:t>complexos</a:t>
            </a:r>
            <a:r>
              <a:rPr lang="en-US" sz="1900" dirty="0"/>
              <a:t> (MAHBOUBI et al., 2024). Esta base </a:t>
            </a:r>
            <a:r>
              <a:rPr lang="en-US" sz="1900" dirty="0" err="1"/>
              <a:t>teórica</a:t>
            </a:r>
            <a:r>
              <a:rPr lang="en-US" sz="1900" dirty="0"/>
              <a:t> </a:t>
            </a:r>
            <a:r>
              <a:rPr lang="en-US" sz="1900" dirty="0" err="1"/>
              <a:t>sustenta</a:t>
            </a:r>
            <a:r>
              <a:rPr lang="en-US" sz="1900" dirty="0"/>
              <a:t> a </a:t>
            </a:r>
            <a:r>
              <a:rPr lang="en-US" sz="1900" dirty="0" err="1"/>
              <a:t>viabilidade</a:t>
            </a:r>
            <a:r>
              <a:rPr lang="en-US" sz="1900" dirty="0"/>
              <a:t> de </a:t>
            </a:r>
            <a:r>
              <a:rPr lang="en-US" sz="1900" dirty="0" err="1"/>
              <a:t>desenvolver</a:t>
            </a:r>
            <a:r>
              <a:rPr lang="en-US" sz="1900" dirty="0"/>
              <a:t> </a:t>
            </a:r>
            <a:r>
              <a:rPr lang="en-US" sz="1900" dirty="0" err="1"/>
              <a:t>uma</a:t>
            </a:r>
            <a:r>
              <a:rPr lang="en-US" sz="1900" dirty="0"/>
              <a:t> </a:t>
            </a:r>
            <a:r>
              <a:rPr lang="en-US" sz="1900" dirty="0" err="1"/>
              <a:t>arquitetura</a:t>
            </a:r>
            <a:r>
              <a:rPr lang="en-US" sz="1900" dirty="0"/>
              <a:t> que </a:t>
            </a:r>
            <a:r>
              <a:rPr lang="en-US" sz="1900" dirty="0" err="1"/>
              <a:t>integre</a:t>
            </a:r>
            <a:r>
              <a:rPr lang="en-US" sz="1900" dirty="0"/>
              <a:t> esses </a:t>
            </a:r>
            <a:r>
              <a:rPr lang="en-US" sz="1900" dirty="0" err="1"/>
              <a:t>avanços</a:t>
            </a:r>
            <a:r>
              <a:rPr lang="en-US" sz="1900" dirty="0"/>
              <a:t> para </a:t>
            </a:r>
            <a:r>
              <a:rPr lang="en-US" sz="1900" dirty="0" err="1"/>
              <a:t>enfrentar</a:t>
            </a:r>
            <a:r>
              <a:rPr lang="en-US" sz="1900" dirty="0"/>
              <a:t> </a:t>
            </a:r>
            <a:r>
              <a:rPr lang="en-US" sz="1900" dirty="0" err="1"/>
              <a:t>os</a:t>
            </a:r>
            <a:r>
              <a:rPr lang="en-US" sz="1900" dirty="0"/>
              <a:t> </a:t>
            </a:r>
            <a:r>
              <a:rPr lang="en-US" sz="1900" dirty="0" err="1"/>
              <a:t>desafios</a:t>
            </a:r>
            <a:r>
              <a:rPr lang="en-US" sz="1900" dirty="0"/>
              <a:t> </a:t>
            </a:r>
            <a:r>
              <a:rPr lang="en-US" sz="1900" dirty="0" err="1"/>
              <a:t>atuais</a:t>
            </a:r>
            <a:r>
              <a:rPr lang="en-US" sz="1900" dirty="0"/>
              <a:t> da </a:t>
            </a:r>
            <a:r>
              <a:rPr lang="en-US" sz="1900" dirty="0" err="1"/>
              <a:t>detecção</a:t>
            </a:r>
            <a:r>
              <a:rPr lang="en-US" sz="1900" dirty="0"/>
              <a:t> de spywares </a:t>
            </a:r>
            <a:r>
              <a:rPr lang="en-US" sz="1900" dirty="0" err="1"/>
              <a:t>avançados</a:t>
            </a:r>
            <a:r>
              <a:rPr lang="en-US" sz="19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30EEAD-45D6-3CEA-F79B-9DE082A83C41}"/>
              </a:ext>
            </a:extLst>
          </p:cNvPr>
          <p:cNvSpPr txBox="1"/>
          <p:nvPr/>
        </p:nvSpPr>
        <p:spPr>
          <a:xfrm>
            <a:off x="483704" y="4723457"/>
            <a:ext cx="108270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FINISTRELLA, S.; MARIANI, S.; ZAMBONELLI, F. Multi-agent reinforcement learning for cybersecurity: classification and survey. </a:t>
            </a:r>
            <a:r>
              <a:rPr lang="en-US" sz="1200" b="1" dirty="0"/>
              <a:t>Intelligent Systems with Applications</a:t>
            </a:r>
            <a:r>
              <a:rPr lang="en-US" sz="1200" dirty="0"/>
              <a:t>, v. 26, n. 200495, jun. 2025. DOI: 10.1016/j.iswa.2025.200495.</a:t>
            </a:r>
          </a:p>
          <a:p>
            <a:r>
              <a:rPr lang="en-US" sz="1200" dirty="0"/>
              <a:t>MAHBOUBI, A. et al. Evolving techniques in cyber threat hunting: a systematic review. </a:t>
            </a:r>
            <a:r>
              <a:rPr lang="en-US" sz="1200" b="1" dirty="0"/>
              <a:t>Journal of Network and Computer Applications</a:t>
            </a:r>
            <a:r>
              <a:rPr lang="en-US" sz="1200" dirty="0"/>
              <a:t>, v. 232, p. 1-34, ago. 2024. DOI: 10.1016/j.jnca.2024.104004.</a:t>
            </a:r>
          </a:p>
          <a:p>
            <a:r>
              <a:rPr lang="en-US" sz="1200" dirty="0"/>
              <a:t>MOHAMED, N. Artificial intelligence and machine learning in cybersecurity: a deep dive into state-of-the-art techniques and future paradigms. </a:t>
            </a:r>
            <a:r>
              <a:rPr lang="en-US" sz="1200" b="1" dirty="0"/>
              <a:t>Knowledge and Information Systems</a:t>
            </a:r>
            <a:r>
              <a:rPr lang="en-US" sz="1200" dirty="0"/>
              <a:t>, 2025. DOI: 10.1007/s10115-025-02429-y.</a:t>
            </a:r>
          </a:p>
          <a:p>
            <a:r>
              <a:rPr lang="en-US" sz="1200" dirty="0"/>
              <a:t>NAZIM, S. et al. Multimodal malware classification using proposed ensemble deep neural network framework. </a:t>
            </a:r>
            <a:r>
              <a:rPr lang="en-US" sz="1200" b="1" dirty="0"/>
              <a:t>Scientific Reports</a:t>
            </a:r>
            <a:r>
              <a:rPr lang="en-US" sz="1200" dirty="0"/>
              <a:t>, v. 15, n. 18006, 2025. DOI: 10.1038/s41598-025-96203-3.</a:t>
            </a:r>
          </a:p>
        </p:txBody>
      </p:sp>
    </p:spTree>
    <p:extLst>
      <p:ext uri="{BB962C8B-B14F-4D97-AF65-F5344CB8AC3E}">
        <p14:creationId xmlns:p14="http://schemas.microsoft.com/office/powerpoint/2010/main" val="120538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259A3-2F1B-DC0C-9574-D048E008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2745BB1-DCC2-6E1F-0F4B-8CD6AFFA7EFF}"/>
              </a:ext>
            </a:extLst>
          </p:cNvPr>
          <p:cNvSpPr txBox="1">
            <a:spLocks/>
          </p:cNvSpPr>
          <p:nvPr/>
        </p:nvSpPr>
        <p:spPr>
          <a:xfrm>
            <a:off x="10840840" y="6365233"/>
            <a:ext cx="1072300" cy="365125"/>
          </a:xfrm>
          <a:prstGeom prst="rect">
            <a:avLst/>
          </a:prstGeom>
        </p:spPr>
        <p:txBody>
          <a:bodyPr/>
          <a:lstStyle>
            <a:defPPr>
              <a:defRPr lang="en-BR"/>
            </a:defPPr>
            <a:lvl1pPr marL="0" algn="r" defTabSz="914400" rtl="0" eaLnBrk="1" latinLnBrk="0" hangingPunct="1">
              <a:defRPr sz="18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0C5910-6898-3F46-B791-FA6C3AAC1BD1}" type="slidenum">
              <a:rPr lang="en-BR" smtClean="0"/>
              <a:pPr/>
              <a:t>6</a:t>
            </a:fld>
            <a:endParaRPr lang="en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9D5D76-D8C8-66A1-2845-C2B1DA0F537C}"/>
              </a:ext>
            </a:extLst>
          </p:cNvPr>
          <p:cNvSpPr txBox="1">
            <a:spLocks/>
          </p:cNvSpPr>
          <p:nvPr/>
        </p:nvSpPr>
        <p:spPr>
          <a:xfrm>
            <a:off x="296795" y="741127"/>
            <a:ext cx="6479145" cy="7292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pt-BR" sz="3200" b="1">
                <a:latin typeface="+mn-lt"/>
              </a:rPr>
              <a:t>OBJETIVO GERAL</a:t>
            </a:r>
            <a:endParaRPr lang="en-BR" sz="3200" b="1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A582E-EC00-CE17-8810-49C9987150A0}"/>
              </a:ext>
            </a:extLst>
          </p:cNvPr>
          <p:cNvSpPr txBox="1"/>
          <p:nvPr/>
        </p:nvSpPr>
        <p:spPr>
          <a:xfrm>
            <a:off x="483704" y="1470408"/>
            <a:ext cx="112245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 </a:t>
            </a:r>
            <a:r>
              <a:rPr lang="en-US" sz="2800" dirty="0" err="1"/>
              <a:t>objetivo</a:t>
            </a:r>
            <a:r>
              <a:rPr lang="en-US" sz="2800" dirty="0"/>
              <a:t> </a:t>
            </a:r>
            <a:r>
              <a:rPr lang="en-US" sz="2800" dirty="0" err="1"/>
              <a:t>geral</a:t>
            </a:r>
            <a:r>
              <a:rPr lang="en-US" sz="2800" dirty="0"/>
              <a:t> </a:t>
            </a:r>
            <a:r>
              <a:rPr lang="en-US" sz="2800" dirty="0" err="1"/>
              <a:t>deste</a:t>
            </a:r>
            <a:r>
              <a:rPr lang="en-US" sz="2800" dirty="0"/>
              <a:t> </a:t>
            </a:r>
            <a:r>
              <a:rPr lang="en-US" sz="2800" dirty="0" err="1"/>
              <a:t>trabalho</a:t>
            </a:r>
            <a:r>
              <a:rPr lang="en-US" sz="2800" dirty="0"/>
              <a:t> </a:t>
            </a:r>
            <a:r>
              <a:rPr lang="en-US" sz="2800" dirty="0" err="1"/>
              <a:t>é</a:t>
            </a:r>
            <a:r>
              <a:rPr lang="en-US" sz="2800" dirty="0"/>
              <a:t> </a:t>
            </a:r>
            <a:r>
              <a:rPr lang="en-US" sz="2800" dirty="0" err="1"/>
              <a:t>desenvolver</a:t>
            </a:r>
            <a:r>
              <a:rPr lang="en-US" sz="2800" dirty="0"/>
              <a:t> </a:t>
            </a:r>
            <a:r>
              <a:rPr lang="en-US" sz="2800" dirty="0" err="1"/>
              <a:t>uma</a:t>
            </a:r>
            <a:r>
              <a:rPr lang="en-US" sz="2800" dirty="0"/>
              <a:t> </a:t>
            </a:r>
            <a:r>
              <a:rPr lang="en-US" sz="2800" dirty="0" err="1"/>
              <a:t>arquitetura</a:t>
            </a:r>
            <a:r>
              <a:rPr lang="en-US" sz="2800" dirty="0"/>
              <a:t> de </a:t>
            </a:r>
            <a:r>
              <a:rPr lang="en-US" sz="2800" dirty="0" err="1"/>
              <a:t>Agentes</a:t>
            </a:r>
            <a:r>
              <a:rPr lang="en-US" sz="2800" dirty="0"/>
              <a:t> de </a:t>
            </a:r>
            <a:r>
              <a:rPr lang="en-US" sz="2800" dirty="0" err="1"/>
              <a:t>Inteligência</a:t>
            </a:r>
            <a:r>
              <a:rPr lang="en-US" sz="2800" dirty="0"/>
              <a:t> Artificial para a </a:t>
            </a:r>
            <a:r>
              <a:rPr lang="en-US" sz="2800" dirty="0" err="1"/>
              <a:t>prática</a:t>
            </a:r>
            <a:r>
              <a:rPr lang="en-US" sz="2800" dirty="0"/>
              <a:t> de </a:t>
            </a:r>
            <a:r>
              <a:rPr lang="en-US" sz="2800" dirty="0" err="1"/>
              <a:t>busca</a:t>
            </a:r>
            <a:r>
              <a:rPr lang="en-US" sz="2800" dirty="0"/>
              <a:t> </a:t>
            </a:r>
            <a:r>
              <a:rPr lang="en-US" sz="2800" dirty="0" err="1"/>
              <a:t>proativa</a:t>
            </a:r>
            <a:r>
              <a:rPr lang="en-US" sz="2800" dirty="0"/>
              <a:t> </a:t>
            </a:r>
            <a:r>
              <a:rPr lang="en-US" sz="2800" dirty="0" err="1"/>
              <a:t>por</a:t>
            </a:r>
            <a:r>
              <a:rPr lang="en-US" sz="2800" dirty="0"/>
              <a:t> </a:t>
            </a:r>
            <a:r>
              <a:rPr lang="en-US" sz="2800" dirty="0" err="1"/>
              <a:t>ameaças</a:t>
            </a:r>
            <a:r>
              <a:rPr lang="en-US" sz="2800" dirty="0"/>
              <a:t> (Threat </a:t>
            </a:r>
            <a:r>
              <a:rPr lang="en-US" sz="2800" dirty="0" err="1"/>
              <a:t>Huting</a:t>
            </a:r>
            <a:r>
              <a:rPr lang="en-US" sz="2800" dirty="0"/>
              <a:t>), </a:t>
            </a:r>
            <a:r>
              <a:rPr lang="en-US" sz="2800" dirty="0" err="1"/>
              <a:t>resultando</a:t>
            </a:r>
            <a:r>
              <a:rPr lang="en-US" sz="2800" dirty="0"/>
              <a:t> </a:t>
            </a:r>
            <a:r>
              <a:rPr lang="en-US" sz="2800" dirty="0" err="1"/>
              <a:t>em</a:t>
            </a:r>
            <a:r>
              <a:rPr lang="en-US" sz="2800" dirty="0"/>
              <a:t> um </a:t>
            </a:r>
            <a:r>
              <a:rPr lang="en-US" sz="2800" dirty="0" err="1"/>
              <a:t>sistema</a:t>
            </a:r>
            <a:r>
              <a:rPr lang="en-US" sz="2800" dirty="0"/>
              <a:t> </a:t>
            </a:r>
            <a:r>
              <a:rPr lang="en-US" sz="2800" dirty="0" err="1"/>
              <a:t>inteligente</a:t>
            </a:r>
            <a:r>
              <a:rPr lang="en-US" sz="2800" dirty="0"/>
              <a:t> e </a:t>
            </a:r>
            <a:r>
              <a:rPr lang="en-US" sz="2800" dirty="0" err="1"/>
              <a:t>autônomo</a:t>
            </a:r>
            <a:r>
              <a:rPr lang="en-US" sz="2800" dirty="0"/>
              <a:t>. Este </a:t>
            </a:r>
            <a:r>
              <a:rPr lang="en-US" sz="2800" dirty="0" err="1"/>
              <a:t>sistema</a:t>
            </a:r>
            <a:r>
              <a:rPr lang="en-US" sz="2800" dirty="0"/>
              <a:t> </a:t>
            </a:r>
            <a:r>
              <a:rPr lang="en-US" sz="2800" dirty="0" err="1"/>
              <a:t>será</a:t>
            </a:r>
            <a:r>
              <a:rPr lang="en-US" sz="2800" dirty="0"/>
              <a:t> </a:t>
            </a:r>
            <a:r>
              <a:rPr lang="en-US" sz="2800" dirty="0" err="1"/>
              <a:t>projetado</a:t>
            </a:r>
            <a:r>
              <a:rPr lang="en-US" sz="2800" dirty="0"/>
              <a:t> para </a:t>
            </a:r>
            <a:r>
              <a:rPr lang="en-US" sz="2800" dirty="0" err="1"/>
              <a:t>identificar</a:t>
            </a:r>
            <a:r>
              <a:rPr lang="en-US" sz="2800" dirty="0"/>
              <a:t>, </a:t>
            </a:r>
            <a:r>
              <a:rPr lang="en-US" sz="2800" dirty="0" err="1"/>
              <a:t>analisar</a:t>
            </a:r>
            <a:r>
              <a:rPr lang="en-US" sz="2800" dirty="0"/>
              <a:t> e responder à </a:t>
            </a:r>
            <a:r>
              <a:rPr lang="en-US" sz="2800" dirty="0" err="1"/>
              <a:t>ameaças</a:t>
            </a:r>
            <a:r>
              <a:rPr lang="en-US" sz="2800" dirty="0"/>
              <a:t> de spyware </a:t>
            </a:r>
            <a:r>
              <a:rPr lang="en-US" sz="2800" dirty="0" err="1"/>
              <a:t>em</a:t>
            </a:r>
            <a:r>
              <a:rPr lang="en-US" sz="2800" dirty="0"/>
              <a:t> </a:t>
            </a:r>
            <a:r>
              <a:rPr lang="en-US" sz="2800" dirty="0" err="1"/>
              <a:t>sistemas</a:t>
            </a:r>
            <a:r>
              <a:rPr lang="en-US" sz="2800" dirty="0"/>
              <a:t> </a:t>
            </a:r>
            <a:r>
              <a:rPr lang="en-US" sz="2800" dirty="0" err="1"/>
              <a:t>operacionais</a:t>
            </a:r>
            <a:r>
              <a:rPr lang="en-US" sz="2800" dirty="0"/>
              <a:t> Windows, </a:t>
            </a:r>
            <a:r>
              <a:rPr lang="en-US" sz="2800" dirty="0" err="1"/>
              <a:t>fundamentando</a:t>
            </a:r>
            <a:r>
              <a:rPr lang="en-US" sz="2800" dirty="0"/>
              <a:t> </a:t>
            </a:r>
            <a:r>
              <a:rPr lang="en-US" sz="2800" dirty="0" err="1"/>
              <a:t>sua</a:t>
            </a:r>
            <a:r>
              <a:rPr lang="en-US" sz="2800" dirty="0"/>
              <a:t> </a:t>
            </a:r>
            <a:r>
              <a:rPr lang="en-US" sz="2800" dirty="0" err="1"/>
              <a:t>eficácia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colaboração</a:t>
            </a:r>
            <a:r>
              <a:rPr lang="en-US" sz="2800" dirty="0"/>
              <a:t> </a:t>
            </a:r>
            <a:r>
              <a:rPr lang="en-US" sz="2800" dirty="0" err="1"/>
              <a:t>orquestrada</a:t>
            </a:r>
            <a:r>
              <a:rPr lang="en-US" sz="2800" dirty="0"/>
              <a:t> entre </a:t>
            </a:r>
            <a:r>
              <a:rPr lang="en-US" sz="2800" dirty="0" err="1"/>
              <a:t>múltiplos</a:t>
            </a:r>
            <a:r>
              <a:rPr lang="en-US" sz="2800" dirty="0"/>
              <a:t> </a:t>
            </a:r>
            <a:r>
              <a:rPr lang="en-US" sz="2800" dirty="0" err="1"/>
              <a:t>agentes</a:t>
            </a:r>
            <a:r>
              <a:rPr lang="en-US" sz="2800" dirty="0"/>
              <a:t> </a:t>
            </a:r>
            <a:r>
              <a:rPr lang="en-US" sz="2800" dirty="0" err="1"/>
              <a:t>especializados</a:t>
            </a:r>
            <a:r>
              <a:rPr lang="en-US" sz="2800" dirty="0"/>
              <a:t>.	</a:t>
            </a:r>
          </a:p>
        </p:txBody>
      </p:sp>
    </p:spTree>
    <p:extLst>
      <p:ext uri="{BB962C8B-B14F-4D97-AF65-F5344CB8AC3E}">
        <p14:creationId xmlns:p14="http://schemas.microsoft.com/office/powerpoint/2010/main" val="714467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C15D9-74A0-433A-EA0F-F87EC1C6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819EEE9-5179-D5C4-B4B4-79548D3AB77A}"/>
              </a:ext>
            </a:extLst>
          </p:cNvPr>
          <p:cNvSpPr txBox="1">
            <a:spLocks/>
          </p:cNvSpPr>
          <p:nvPr/>
        </p:nvSpPr>
        <p:spPr>
          <a:xfrm>
            <a:off x="10840840" y="6365233"/>
            <a:ext cx="1072300" cy="365125"/>
          </a:xfrm>
          <a:prstGeom prst="rect">
            <a:avLst/>
          </a:prstGeom>
        </p:spPr>
        <p:txBody>
          <a:bodyPr/>
          <a:lstStyle>
            <a:defPPr>
              <a:defRPr lang="en-BR"/>
            </a:defPPr>
            <a:lvl1pPr marL="0" algn="r" defTabSz="914400" rtl="0" eaLnBrk="1" latinLnBrk="0" hangingPunct="1">
              <a:defRPr sz="18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0C5910-6898-3F46-B791-FA6C3AAC1BD1}" type="slidenum">
              <a:rPr lang="en-BR" smtClean="0"/>
              <a:pPr/>
              <a:t>7</a:t>
            </a:fld>
            <a:endParaRPr lang="en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FE0F7E5-5845-ADE3-938E-121060B46875}"/>
              </a:ext>
            </a:extLst>
          </p:cNvPr>
          <p:cNvSpPr txBox="1">
            <a:spLocks/>
          </p:cNvSpPr>
          <p:nvPr/>
        </p:nvSpPr>
        <p:spPr>
          <a:xfrm>
            <a:off x="296795" y="741127"/>
            <a:ext cx="6479145" cy="7292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pt-BR" sz="3200" b="1" dirty="0">
                <a:latin typeface="+mn-lt"/>
              </a:rPr>
              <a:t>OBJETIVOS ESPECÍFICOS</a:t>
            </a:r>
            <a:endParaRPr lang="en-BR" sz="3200" b="1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810BFD-C039-A19E-43F6-D728D1973EA3}"/>
              </a:ext>
            </a:extLst>
          </p:cNvPr>
          <p:cNvSpPr txBox="1"/>
          <p:nvPr/>
        </p:nvSpPr>
        <p:spPr>
          <a:xfrm>
            <a:off x="483704" y="1470408"/>
            <a:ext cx="1122459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 err="1"/>
              <a:t>Formalizar</a:t>
            </a:r>
            <a:r>
              <a:rPr lang="en-US" sz="2000" b="1" dirty="0"/>
              <a:t> </a:t>
            </a:r>
            <a:r>
              <a:rPr lang="en-US" sz="2000" b="1" dirty="0" err="1"/>
              <a:t>uma</a:t>
            </a:r>
            <a:r>
              <a:rPr lang="en-US" sz="2000" b="1" dirty="0"/>
              <a:t> </a:t>
            </a:r>
            <a:r>
              <a:rPr lang="en-US" sz="2000" b="1" dirty="0" err="1"/>
              <a:t>arquitetura</a:t>
            </a:r>
            <a:r>
              <a:rPr lang="en-US" sz="2000" b="1" dirty="0"/>
              <a:t> de </a:t>
            </a:r>
            <a:r>
              <a:rPr lang="en-US" sz="2000" b="1" dirty="0" err="1"/>
              <a:t>referência</a:t>
            </a:r>
            <a:r>
              <a:rPr lang="en-US" sz="2000" dirty="0"/>
              <a:t> para </a:t>
            </a:r>
            <a:r>
              <a:rPr lang="en-US" sz="2000" dirty="0" err="1"/>
              <a:t>sistemas</a:t>
            </a:r>
            <a:r>
              <a:rPr lang="en-US" sz="2000" dirty="0"/>
              <a:t> </a:t>
            </a:r>
            <a:r>
              <a:rPr lang="en-US" sz="2000" dirty="0" err="1"/>
              <a:t>multiagente</a:t>
            </a:r>
            <a:r>
              <a:rPr lang="en-US" sz="2000" dirty="0"/>
              <a:t> de </a:t>
            </a:r>
            <a:r>
              <a:rPr lang="en-US" sz="2000" dirty="0" err="1"/>
              <a:t>detecção</a:t>
            </a:r>
            <a:r>
              <a:rPr lang="en-US" sz="2000" dirty="0"/>
              <a:t> de </a:t>
            </a:r>
            <a:r>
              <a:rPr lang="en-US" sz="2000" dirty="0" err="1"/>
              <a:t>ameaças</a:t>
            </a:r>
            <a:r>
              <a:rPr lang="en-US" sz="2000" dirty="0"/>
              <a:t>, </a:t>
            </a:r>
            <a:r>
              <a:rPr lang="en-US" sz="2000" dirty="0" err="1"/>
              <a:t>incluindo</a:t>
            </a:r>
            <a:r>
              <a:rPr lang="en-US" sz="2000" dirty="0"/>
              <a:t> </a:t>
            </a:r>
            <a:r>
              <a:rPr lang="en-US" sz="2000" dirty="0" err="1"/>
              <a:t>especificação</a:t>
            </a:r>
            <a:r>
              <a:rPr lang="en-US" sz="2000" dirty="0"/>
              <a:t> de interfaces, </a:t>
            </a:r>
            <a:r>
              <a:rPr lang="en-US" sz="2000" dirty="0" err="1"/>
              <a:t>protocolos</a:t>
            </a:r>
            <a:r>
              <a:rPr lang="en-US" sz="2000" dirty="0"/>
              <a:t> de </a:t>
            </a:r>
            <a:r>
              <a:rPr lang="en-US" sz="2000" dirty="0" err="1"/>
              <a:t>comunicação</a:t>
            </a:r>
            <a:r>
              <a:rPr lang="en-US" sz="2000" dirty="0"/>
              <a:t> e </a:t>
            </a:r>
            <a:r>
              <a:rPr lang="en-US" sz="2000" dirty="0" err="1"/>
              <a:t>modelos</a:t>
            </a:r>
            <a:r>
              <a:rPr lang="en-US" sz="2000" dirty="0"/>
              <a:t> de </a:t>
            </a:r>
            <a:r>
              <a:rPr lang="en-US" sz="2000" dirty="0" err="1"/>
              <a:t>colaboração</a:t>
            </a:r>
            <a:r>
              <a:rPr lang="en-US" sz="2000" dirty="0"/>
              <a:t> entre </a:t>
            </a:r>
            <a:r>
              <a:rPr lang="en-US" sz="2000" dirty="0" err="1"/>
              <a:t>agentes</a:t>
            </a:r>
            <a:r>
              <a:rPr lang="en-US" sz="20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 err="1"/>
              <a:t>Desenvolver</a:t>
            </a:r>
            <a:r>
              <a:rPr lang="en-US" sz="2000" b="1" dirty="0"/>
              <a:t> um framework de </a:t>
            </a:r>
            <a:r>
              <a:rPr lang="en-US" sz="2000" b="1" dirty="0" err="1"/>
              <a:t>análise</a:t>
            </a:r>
            <a:r>
              <a:rPr lang="en-US" sz="2000" b="1" dirty="0"/>
              <a:t> </a:t>
            </a:r>
            <a:r>
              <a:rPr lang="en-US" sz="2000" b="1" dirty="0" err="1"/>
              <a:t>comportamental</a:t>
            </a:r>
            <a:r>
              <a:rPr lang="en-US" sz="2000" b="1" dirty="0"/>
              <a:t> </a:t>
            </a:r>
            <a:r>
              <a:rPr lang="en-US" sz="2000" b="1" dirty="0" err="1"/>
              <a:t>distribuída</a:t>
            </a:r>
            <a:r>
              <a:rPr lang="en-US" sz="2000" dirty="0"/>
              <a:t> </a:t>
            </a:r>
            <a:r>
              <a:rPr lang="en-US" sz="2000" dirty="0" err="1"/>
              <a:t>específico</a:t>
            </a:r>
            <a:r>
              <a:rPr lang="en-US" sz="2000" dirty="0"/>
              <a:t> para spywares, </a:t>
            </a:r>
            <a:r>
              <a:rPr lang="en-US" sz="2000" dirty="0" err="1"/>
              <a:t>estabelecendo</a:t>
            </a:r>
            <a:r>
              <a:rPr lang="en-US" sz="2000" dirty="0"/>
              <a:t> </a:t>
            </a:r>
            <a:r>
              <a:rPr lang="en-US" sz="2000" dirty="0" err="1"/>
              <a:t>taxonomia</a:t>
            </a:r>
            <a:r>
              <a:rPr lang="en-US" sz="2000" dirty="0"/>
              <a:t> de </a:t>
            </a:r>
            <a:r>
              <a:rPr lang="en-US" sz="2000" dirty="0" err="1"/>
              <a:t>comportamentos</a:t>
            </a:r>
            <a:r>
              <a:rPr lang="en-US" sz="2000" dirty="0"/>
              <a:t> </a:t>
            </a:r>
            <a:r>
              <a:rPr lang="en-US" sz="2000" dirty="0" err="1"/>
              <a:t>suspeitos</a:t>
            </a:r>
            <a:r>
              <a:rPr lang="en-US" sz="2000" dirty="0"/>
              <a:t> e </a:t>
            </a:r>
            <a:r>
              <a:rPr lang="en-US" sz="2000" dirty="0" err="1"/>
              <a:t>mecanismos</a:t>
            </a:r>
            <a:r>
              <a:rPr lang="en-US" sz="2000" dirty="0"/>
              <a:t> de </a:t>
            </a:r>
            <a:r>
              <a:rPr lang="en-US" sz="2000" dirty="0" err="1"/>
              <a:t>correlação</a:t>
            </a:r>
            <a:r>
              <a:rPr lang="en-US" sz="2000" dirty="0"/>
              <a:t> entre </a:t>
            </a:r>
            <a:r>
              <a:rPr lang="en-US" sz="2000" dirty="0" err="1"/>
              <a:t>diferentes</a:t>
            </a:r>
            <a:r>
              <a:rPr lang="en-US" sz="2000" dirty="0"/>
              <a:t> </a:t>
            </a:r>
            <a:r>
              <a:rPr lang="en-US" sz="2000" dirty="0" err="1"/>
              <a:t>camadas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operacional</a:t>
            </a:r>
            <a:r>
              <a:rPr lang="en-US" sz="20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 err="1"/>
              <a:t>Criar</a:t>
            </a:r>
            <a:r>
              <a:rPr lang="en-US" sz="2000" b="1" dirty="0"/>
              <a:t> um </a:t>
            </a:r>
            <a:r>
              <a:rPr lang="en-US" sz="2000" b="1" dirty="0" err="1"/>
              <a:t>protocolo</a:t>
            </a:r>
            <a:r>
              <a:rPr lang="en-US" sz="2000" b="1" dirty="0"/>
              <a:t> de </a:t>
            </a:r>
            <a:r>
              <a:rPr lang="en-US" sz="2000" b="1" dirty="0" err="1"/>
              <a:t>orquestração</a:t>
            </a:r>
            <a:r>
              <a:rPr lang="en-US" sz="2000" b="1" dirty="0"/>
              <a:t> </a:t>
            </a:r>
            <a:r>
              <a:rPr lang="en-US" sz="2000" b="1" dirty="0" err="1"/>
              <a:t>adaptativa</a:t>
            </a:r>
            <a:r>
              <a:rPr lang="en-US" sz="2000" dirty="0"/>
              <a:t> que </a:t>
            </a:r>
            <a:r>
              <a:rPr lang="en-US" sz="2000" dirty="0" err="1"/>
              <a:t>permita</a:t>
            </a:r>
            <a:r>
              <a:rPr lang="en-US" sz="2000" dirty="0"/>
              <a:t> a </a:t>
            </a:r>
            <a:r>
              <a:rPr lang="en-US" sz="2000" dirty="0" err="1"/>
              <a:t>coordenação</a:t>
            </a:r>
            <a:r>
              <a:rPr lang="en-US" sz="2000" dirty="0"/>
              <a:t> </a:t>
            </a:r>
            <a:r>
              <a:rPr lang="en-US" sz="2000" dirty="0" err="1"/>
              <a:t>dinâmica</a:t>
            </a:r>
            <a:r>
              <a:rPr lang="en-US" sz="2000" dirty="0"/>
              <a:t> entre </a:t>
            </a:r>
            <a:r>
              <a:rPr lang="en-US" sz="2000" dirty="0" err="1"/>
              <a:t>agentes</a:t>
            </a:r>
            <a:r>
              <a:rPr lang="en-US" sz="2000" dirty="0"/>
              <a:t> </a:t>
            </a:r>
            <a:r>
              <a:rPr lang="en-US" sz="2000" dirty="0" err="1"/>
              <a:t>baseada</a:t>
            </a:r>
            <a:r>
              <a:rPr lang="en-US" sz="2000" dirty="0"/>
              <a:t> no </a:t>
            </a:r>
            <a:r>
              <a:rPr lang="en-US" sz="2000" dirty="0" err="1"/>
              <a:t>contexto</a:t>
            </a:r>
            <a:r>
              <a:rPr lang="en-US" sz="2000" dirty="0"/>
              <a:t> da </a:t>
            </a:r>
            <a:r>
              <a:rPr lang="en-US" sz="2000" dirty="0" err="1"/>
              <a:t>ameaça</a:t>
            </a:r>
            <a:r>
              <a:rPr lang="en-US" sz="2000" dirty="0"/>
              <a:t>, </a:t>
            </a:r>
            <a:r>
              <a:rPr lang="en-US" sz="2000" dirty="0" err="1"/>
              <a:t>incluindo</a:t>
            </a:r>
            <a:r>
              <a:rPr lang="en-US" sz="2000" dirty="0"/>
              <a:t> </a:t>
            </a:r>
            <a:r>
              <a:rPr lang="en-US" sz="2000" dirty="0" err="1"/>
              <a:t>mecanismos</a:t>
            </a:r>
            <a:r>
              <a:rPr lang="en-US" sz="2000" dirty="0"/>
              <a:t> de </a:t>
            </a:r>
            <a:r>
              <a:rPr lang="en-US" sz="2000" dirty="0" err="1"/>
              <a:t>priorização</a:t>
            </a:r>
            <a:r>
              <a:rPr lang="en-US" sz="2000" dirty="0"/>
              <a:t> e </a:t>
            </a:r>
            <a:r>
              <a:rPr lang="en-US" sz="2000" dirty="0" err="1"/>
              <a:t>escalação</a:t>
            </a:r>
            <a:r>
              <a:rPr lang="en-US" sz="20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 err="1"/>
              <a:t>Produzir</a:t>
            </a:r>
            <a:r>
              <a:rPr lang="en-US" sz="2000" b="1" dirty="0"/>
              <a:t> um conjunto de </a:t>
            </a:r>
            <a:r>
              <a:rPr lang="en-US" sz="2000" b="1" dirty="0" err="1"/>
              <a:t>heurísticas</a:t>
            </a:r>
            <a:r>
              <a:rPr lang="en-US" sz="2000" b="1" dirty="0"/>
              <a:t> de </a:t>
            </a:r>
            <a:r>
              <a:rPr lang="en-US" sz="2000" b="1" dirty="0" err="1"/>
              <a:t>detecção</a:t>
            </a:r>
            <a:r>
              <a:rPr lang="en-US" sz="2000" dirty="0"/>
              <a:t> </a:t>
            </a:r>
            <a:r>
              <a:rPr lang="en-US" sz="2000" dirty="0" err="1"/>
              <a:t>derivadas</a:t>
            </a:r>
            <a:r>
              <a:rPr lang="en-US" sz="2000" dirty="0"/>
              <a:t> </a:t>
            </a:r>
            <a:r>
              <a:rPr lang="en-US" sz="2000" dirty="0" err="1"/>
              <a:t>empiricamente</a:t>
            </a:r>
            <a:r>
              <a:rPr lang="en-US" sz="2000" dirty="0"/>
              <a:t> da </a:t>
            </a:r>
            <a:r>
              <a:rPr lang="en-US" sz="2000" dirty="0" err="1"/>
              <a:t>colaboração</a:t>
            </a:r>
            <a:r>
              <a:rPr lang="en-US" sz="2000" dirty="0"/>
              <a:t> entre </a:t>
            </a:r>
            <a:r>
              <a:rPr lang="en-US" sz="2000" dirty="0" err="1"/>
              <a:t>agentes</a:t>
            </a:r>
            <a:r>
              <a:rPr lang="en-US" sz="2000" dirty="0"/>
              <a:t>, </a:t>
            </a:r>
            <a:r>
              <a:rPr lang="en-US" sz="2000" dirty="0" err="1"/>
              <a:t>documentando</a:t>
            </a:r>
            <a:r>
              <a:rPr lang="en-US" sz="2000" dirty="0"/>
              <a:t> </a:t>
            </a:r>
            <a:r>
              <a:rPr lang="en-US" sz="2000" dirty="0" err="1"/>
              <a:t>padrões</a:t>
            </a:r>
            <a:r>
              <a:rPr lang="en-US" sz="2000" dirty="0"/>
              <a:t> </a:t>
            </a:r>
            <a:r>
              <a:rPr lang="en-US" sz="2000" dirty="0" err="1"/>
              <a:t>comportamentais</a:t>
            </a:r>
            <a:r>
              <a:rPr lang="en-US" sz="2000" dirty="0"/>
              <a:t> de spywares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capturados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assinaturas</a:t>
            </a:r>
            <a:r>
              <a:rPr lang="en-US" sz="2000" dirty="0"/>
              <a:t> </a:t>
            </a:r>
            <a:r>
              <a:rPr lang="en-US" sz="2000" dirty="0" err="1"/>
              <a:t>tradicionais</a:t>
            </a:r>
            <a:r>
              <a:rPr lang="en-US" sz="20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 err="1"/>
              <a:t>Estabelecer</a:t>
            </a:r>
            <a:r>
              <a:rPr lang="en-US" sz="2000" b="1" dirty="0"/>
              <a:t> um </a:t>
            </a:r>
            <a:r>
              <a:rPr lang="en-US" sz="2000" b="1" dirty="0" err="1"/>
              <a:t>modelo</a:t>
            </a:r>
            <a:r>
              <a:rPr lang="en-US" sz="2000" b="1" dirty="0"/>
              <a:t> de </a:t>
            </a:r>
            <a:r>
              <a:rPr lang="en-US" sz="2000" b="1" dirty="0" err="1"/>
              <a:t>representação</a:t>
            </a:r>
            <a:r>
              <a:rPr lang="en-US" sz="2000" b="1" dirty="0"/>
              <a:t> de </a:t>
            </a:r>
            <a:r>
              <a:rPr lang="en-US" sz="2000" b="1" dirty="0" err="1"/>
              <a:t>conhecimento</a:t>
            </a:r>
            <a:r>
              <a:rPr lang="en-US" sz="2000" dirty="0"/>
              <a:t> para </a:t>
            </a:r>
            <a:r>
              <a:rPr lang="en-US" sz="2000" dirty="0" err="1"/>
              <a:t>ameaças</a:t>
            </a:r>
            <a:r>
              <a:rPr lang="en-US" sz="2000" dirty="0"/>
              <a:t> </a:t>
            </a:r>
            <a:r>
              <a:rPr lang="en-US" sz="2000" dirty="0" err="1"/>
              <a:t>cibernéticas</a:t>
            </a:r>
            <a:r>
              <a:rPr lang="en-US" sz="2000" dirty="0"/>
              <a:t> que </a:t>
            </a:r>
            <a:r>
              <a:rPr lang="en-US" sz="2000" dirty="0" err="1"/>
              <a:t>permita</a:t>
            </a:r>
            <a:r>
              <a:rPr lang="en-US" sz="2000" dirty="0"/>
              <a:t> o </a:t>
            </a:r>
            <a:r>
              <a:rPr lang="en-US" sz="2000" dirty="0" err="1"/>
              <a:t>compartilhamento</a:t>
            </a:r>
            <a:r>
              <a:rPr lang="en-US" sz="2000" dirty="0"/>
              <a:t> </a:t>
            </a:r>
            <a:r>
              <a:rPr lang="en-US" sz="2000" dirty="0" err="1"/>
              <a:t>eficiente</a:t>
            </a:r>
            <a:r>
              <a:rPr lang="en-US" sz="2000" dirty="0"/>
              <a:t> de </a:t>
            </a:r>
            <a:r>
              <a:rPr lang="en-US" sz="2000" dirty="0" err="1"/>
              <a:t>informações</a:t>
            </a:r>
            <a:r>
              <a:rPr lang="en-US" sz="2000" dirty="0"/>
              <a:t> entre </a:t>
            </a:r>
            <a:r>
              <a:rPr lang="en-US" sz="2000" dirty="0" err="1"/>
              <a:t>agentes</a:t>
            </a:r>
            <a:r>
              <a:rPr lang="en-US" sz="2000" dirty="0"/>
              <a:t> e </a:t>
            </a:r>
            <a:r>
              <a:rPr lang="en-US" sz="2000" dirty="0" err="1"/>
              <a:t>facilite</a:t>
            </a:r>
            <a:r>
              <a:rPr lang="en-US" sz="2000" dirty="0"/>
              <a:t> o </a:t>
            </a:r>
            <a:r>
              <a:rPr lang="en-US" sz="2000" dirty="0" err="1"/>
              <a:t>aprendizado</a:t>
            </a:r>
            <a:r>
              <a:rPr lang="en-US" sz="2000" dirty="0"/>
              <a:t> incremental do </a:t>
            </a:r>
            <a:r>
              <a:rPr lang="en-US" sz="2000" dirty="0" err="1"/>
              <a:t>sistema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3510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5F64-038C-2D31-59BD-6F0841B5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84C2753-E9B3-5F5B-8AFC-278FA89AACE4}"/>
              </a:ext>
            </a:extLst>
          </p:cNvPr>
          <p:cNvSpPr txBox="1">
            <a:spLocks/>
          </p:cNvSpPr>
          <p:nvPr/>
        </p:nvSpPr>
        <p:spPr>
          <a:xfrm>
            <a:off x="10840840" y="6365233"/>
            <a:ext cx="1072300" cy="365125"/>
          </a:xfrm>
          <a:prstGeom prst="rect">
            <a:avLst/>
          </a:prstGeom>
        </p:spPr>
        <p:txBody>
          <a:bodyPr/>
          <a:lstStyle>
            <a:defPPr>
              <a:defRPr lang="en-BR"/>
            </a:defPPr>
            <a:lvl1pPr marL="0" algn="r" defTabSz="914400" rtl="0" eaLnBrk="1" latinLnBrk="0" hangingPunct="1">
              <a:defRPr sz="18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0C5910-6898-3F46-B791-FA6C3AAC1BD1}" type="slidenum">
              <a:rPr lang="en-BR" smtClean="0"/>
              <a:pPr/>
              <a:t>8</a:t>
            </a:fld>
            <a:endParaRPr lang="en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6FC183-9A67-25CB-2DDB-9497D3B0056E}"/>
              </a:ext>
            </a:extLst>
          </p:cNvPr>
          <p:cNvSpPr txBox="1">
            <a:spLocks/>
          </p:cNvSpPr>
          <p:nvPr/>
        </p:nvSpPr>
        <p:spPr>
          <a:xfrm>
            <a:off x="296795" y="741127"/>
            <a:ext cx="6479145" cy="7292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pt-BR" sz="3200" b="1" dirty="0">
                <a:latin typeface="+mn-lt"/>
              </a:rPr>
              <a:t>HIPÓTESE</a:t>
            </a:r>
            <a:endParaRPr lang="en-BR" sz="3200" b="1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71CC5-691F-A506-25B8-F415CF01D14F}"/>
              </a:ext>
            </a:extLst>
          </p:cNvPr>
          <p:cNvSpPr txBox="1"/>
          <p:nvPr/>
        </p:nvSpPr>
        <p:spPr>
          <a:xfrm>
            <a:off x="483704" y="1470408"/>
            <a:ext cx="1122459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</a:t>
            </a:r>
            <a:r>
              <a:rPr lang="en-US" sz="2800" dirty="0" err="1"/>
              <a:t>presente</a:t>
            </a:r>
            <a:r>
              <a:rPr lang="en-US" sz="2800" dirty="0"/>
              <a:t> </a:t>
            </a:r>
            <a:r>
              <a:rPr lang="en-US" sz="2800" dirty="0" err="1"/>
              <a:t>pesquisa</a:t>
            </a:r>
            <a:r>
              <a:rPr lang="en-US" sz="2800" dirty="0"/>
              <a:t> </a:t>
            </a:r>
            <a:r>
              <a:rPr lang="en-US" sz="2800" dirty="0" err="1"/>
              <a:t>parte</a:t>
            </a:r>
            <a:r>
              <a:rPr lang="en-US" sz="2800" dirty="0"/>
              <a:t> da </a:t>
            </a:r>
            <a:r>
              <a:rPr lang="en-US" sz="2800" dirty="0" err="1"/>
              <a:t>seguinte</a:t>
            </a:r>
            <a:r>
              <a:rPr lang="en-US" sz="2800" dirty="0"/>
              <a:t> </a:t>
            </a:r>
            <a:r>
              <a:rPr lang="en-US" sz="2800" dirty="0" err="1"/>
              <a:t>hipótese</a:t>
            </a:r>
            <a:r>
              <a:rPr lang="en-US" sz="2800" dirty="0"/>
              <a:t> central: a </a:t>
            </a:r>
            <a:r>
              <a:rPr lang="en-US" sz="2800" dirty="0" err="1"/>
              <a:t>utilização</a:t>
            </a:r>
            <a:r>
              <a:rPr lang="en-US" sz="2800" dirty="0"/>
              <a:t> de </a:t>
            </a:r>
            <a:r>
              <a:rPr lang="en-US" sz="2800" dirty="0" err="1"/>
              <a:t>mutiplos</a:t>
            </a:r>
            <a:r>
              <a:rPr lang="en-US" sz="2800" dirty="0"/>
              <a:t> </a:t>
            </a:r>
            <a:r>
              <a:rPr lang="en-US" sz="2800" dirty="0" err="1"/>
              <a:t>Agentes</a:t>
            </a:r>
            <a:r>
              <a:rPr lang="en-US" sz="2800" dirty="0"/>
              <a:t> de </a:t>
            </a:r>
            <a:r>
              <a:rPr lang="en-US" sz="2800" dirty="0" err="1"/>
              <a:t>Inteligência</a:t>
            </a:r>
            <a:r>
              <a:rPr lang="en-US" sz="2800" dirty="0"/>
              <a:t> Artificial </a:t>
            </a:r>
            <a:r>
              <a:rPr lang="en-US" sz="2800" dirty="0" err="1"/>
              <a:t>colaborativos</a:t>
            </a:r>
            <a:r>
              <a:rPr lang="en-US" sz="2800" dirty="0"/>
              <a:t> </a:t>
            </a:r>
            <a:r>
              <a:rPr lang="en-US" sz="2800" dirty="0" err="1"/>
              <a:t>pode</a:t>
            </a:r>
            <a:r>
              <a:rPr lang="en-US" sz="2800" dirty="0"/>
              <a:t> </a:t>
            </a:r>
            <a:r>
              <a:rPr lang="en-US" sz="2800" dirty="0" err="1"/>
              <a:t>melhorar</a:t>
            </a:r>
            <a:r>
              <a:rPr lang="en-US" sz="2800" dirty="0"/>
              <a:t> </a:t>
            </a:r>
            <a:r>
              <a:rPr lang="en-US" sz="2800" dirty="0" err="1"/>
              <a:t>significativamente</a:t>
            </a:r>
            <a:r>
              <a:rPr lang="en-US" sz="2800" dirty="0"/>
              <a:t> a </a:t>
            </a:r>
            <a:r>
              <a:rPr lang="en-US" sz="2800" dirty="0" err="1"/>
              <a:t>capacidade</a:t>
            </a:r>
            <a:r>
              <a:rPr lang="en-US" sz="2800" dirty="0"/>
              <a:t> de </a:t>
            </a:r>
            <a:r>
              <a:rPr lang="en-US" sz="2800" dirty="0" err="1"/>
              <a:t>detecção</a:t>
            </a:r>
            <a:r>
              <a:rPr lang="en-US" sz="2800" dirty="0"/>
              <a:t> e </a:t>
            </a:r>
            <a:r>
              <a:rPr lang="en-US" sz="2800" dirty="0" err="1"/>
              <a:t>resposta</a:t>
            </a:r>
            <a:r>
              <a:rPr lang="en-US" sz="2800" dirty="0"/>
              <a:t> a spywares. </a:t>
            </a:r>
            <a:r>
              <a:rPr lang="en-US" sz="2800" dirty="0" err="1"/>
              <a:t>Pressupõe</a:t>
            </a:r>
            <a:r>
              <a:rPr lang="en-US" sz="2800" dirty="0"/>
              <a:t>-se que, </a:t>
            </a:r>
            <a:r>
              <a:rPr lang="en-US" sz="2800" dirty="0" err="1"/>
              <a:t>através</a:t>
            </a:r>
            <a:r>
              <a:rPr lang="en-US" sz="2800" dirty="0"/>
              <a:t> da </a:t>
            </a:r>
            <a:r>
              <a:rPr lang="en-US" sz="2800" dirty="0" err="1"/>
              <a:t>aplicação</a:t>
            </a:r>
            <a:r>
              <a:rPr lang="en-US" sz="2800" dirty="0"/>
              <a:t> de </a:t>
            </a:r>
            <a:r>
              <a:rPr lang="en-US" sz="2800" dirty="0" err="1"/>
              <a:t>análise</a:t>
            </a:r>
            <a:r>
              <a:rPr lang="en-US" sz="2800" dirty="0"/>
              <a:t> </a:t>
            </a:r>
            <a:r>
              <a:rPr lang="en-US" sz="2800" dirty="0" err="1"/>
              <a:t>comportamental</a:t>
            </a:r>
            <a:r>
              <a:rPr lang="en-US" sz="2800" dirty="0"/>
              <a:t> </a:t>
            </a:r>
            <a:r>
              <a:rPr lang="en-US" sz="2800" dirty="0" err="1"/>
              <a:t>distribuída</a:t>
            </a:r>
            <a:r>
              <a:rPr lang="en-US" sz="2800" dirty="0"/>
              <a:t> e de </a:t>
            </a:r>
            <a:r>
              <a:rPr lang="en-US" sz="2800" dirty="0" err="1"/>
              <a:t>mecanismos</a:t>
            </a:r>
            <a:r>
              <a:rPr lang="en-US" sz="2800" dirty="0"/>
              <a:t> de </a:t>
            </a:r>
            <a:r>
              <a:rPr lang="en-US" sz="2800" dirty="0" err="1"/>
              <a:t>aprendizado</a:t>
            </a:r>
            <a:r>
              <a:rPr lang="en-US" sz="2800" dirty="0"/>
              <a:t> </a:t>
            </a:r>
            <a:r>
              <a:rPr lang="en-US" sz="2800" dirty="0" err="1"/>
              <a:t>contínuo</a:t>
            </a:r>
            <a:r>
              <a:rPr lang="en-US" sz="2800" dirty="0"/>
              <a:t>, o </a:t>
            </a:r>
            <a:r>
              <a:rPr lang="en-US" sz="2800" dirty="0" err="1"/>
              <a:t>sistema</a:t>
            </a:r>
            <a:r>
              <a:rPr lang="en-US" sz="2800" dirty="0"/>
              <a:t> </a:t>
            </a:r>
            <a:r>
              <a:rPr lang="en-US" sz="2800" dirty="0" err="1"/>
              <a:t>proposto</a:t>
            </a:r>
            <a:r>
              <a:rPr lang="en-US" sz="2800" dirty="0"/>
              <a:t> </a:t>
            </a:r>
            <a:r>
              <a:rPr lang="en-US" sz="2800" dirty="0" err="1"/>
              <a:t>será</a:t>
            </a:r>
            <a:r>
              <a:rPr lang="en-US" sz="2800" dirty="0"/>
              <a:t> </a:t>
            </a:r>
            <a:r>
              <a:rPr lang="en-US" sz="2800" dirty="0" err="1"/>
              <a:t>capaz</a:t>
            </a:r>
            <a:r>
              <a:rPr lang="en-US" sz="2800" dirty="0"/>
              <a:t> de </a:t>
            </a:r>
            <a:r>
              <a:rPr lang="en-US" sz="2800" dirty="0" err="1"/>
              <a:t>superar</a:t>
            </a:r>
            <a:r>
              <a:rPr lang="en-US" sz="2800" dirty="0"/>
              <a:t> as </a:t>
            </a:r>
            <a:r>
              <a:rPr lang="en-US" sz="2800" dirty="0" err="1"/>
              <a:t>limitações</a:t>
            </a:r>
            <a:r>
              <a:rPr lang="en-US" sz="2800" dirty="0"/>
              <a:t> dos </a:t>
            </a:r>
            <a:r>
              <a:rPr lang="en-US" sz="2800" dirty="0" err="1"/>
              <a:t>métodos</a:t>
            </a:r>
            <a:r>
              <a:rPr lang="en-US" sz="2800" dirty="0"/>
              <a:t> </a:t>
            </a:r>
            <a:r>
              <a:rPr lang="en-US" sz="2800" dirty="0" err="1"/>
              <a:t>tradicionais</a:t>
            </a:r>
            <a:r>
              <a:rPr lang="en-US" sz="2800" dirty="0"/>
              <a:t>, que </a:t>
            </a:r>
            <a:r>
              <a:rPr lang="en-US" sz="2800" dirty="0" err="1"/>
              <a:t>frequentemente</a:t>
            </a:r>
            <a:r>
              <a:rPr lang="en-US" sz="2800" dirty="0"/>
              <a:t> </a:t>
            </a:r>
            <a:r>
              <a:rPr lang="en-US" sz="2800" dirty="0" err="1"/>
              <a:t>falham</a:t>
            </a:r>
            <a:r>
              <a:rPr lang="en-US" sz="2800" dirty="0"/>
              <a:t> </a:t>
            </a:r>
            <a:r>
              <a:rPr lang="en-US" sz="2800" dirty="0" err="1"/>
              <a:t>em</a:t>
            </a:r>
            <a:r>
              <a:rPr lang="en-US" sz="2800" dirty="0"/>
              <a:t> </a:t>
            </a:r>
            <a:r>
              <a:rPr lang="en-US" sz="2800" dirty="0" err="1"/>
              <a:t>identificar</a:t>
            </a:r>
            <a:r>
              <a:rPr lang="en-US" sz="2800" dirty="0"/>
              <a:t> </a:t>
            </a:r>
            <a:r>
              <a:rPr lang="en-US" sz="2800" dirty="0" err="1"/>
              <a:t>ameaças</a:t>
            </a:r>
            <a:r>
              <a:rPr lang="en-US" sz="2800" dirty="0"/>
              <a:t> </a:t>
            </a:r>
            <a:r>
              <a:rPr lang="en-US" sz="2800" dirty="0" err="1"/>
              <a:t>evasivas</a:t>
            </a:r>
            <a:r>
              <a:rPr lang="en-US" sz="2800" dirty="0"/>
              <a:t> e </a:t>
            </a:r>
            <a:r>
              <a:rPr lang="en-US" sz="2800" dirty="0" err="1"/>
              <a:t>coordenadas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5226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6FB13-8243-3025-8D9C-7ED064DA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216A6B2-D869-56DE-5C74-A23AEACC24E3}"/>
              </a:ext>
            </a:extLst>
          </p:cNvPr>
          <p:cNvSpPr txBox="1">
            <a:spLocks/>
          </p:cNvSpPr>
          <p:nvPr/>
        </p:nvSpPr>
        <p:spPr>
          <a:xfrm>
            <a:off x="10840840" y="6365233"/>
            <a:ext cx="1072300" cy="365125"/>
          </a:xfrm>
          <a:prstGeom prst="rect">
            <a:avLst/>
          </a:prstGeom>
        </p:spPr>
        <p:txBody>
          <a:bodyPr/>
          <a:lstStyle>
            <a:defPPr>
              <a:defRPr lang="en-BR"/>
            </a:defPPr>
            <a:lvl1pPr marL="0" algn="r" defTabSz="914400" rtl="0" eaLnBrk="1" latinLnBrk="0" hangingPunct="1">
              <a:defRPr sz="18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0C5910-6898-3F46-B791-FA6C3AAC1BD1}" type="slidenum">
              <a:rPr lang="en-BR" smtClean="0"/>
              <a:pPr/>
              <a:t>9</a:t>
            </a:fld>
            <a:endParaRPr lang="en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C3FE95-56DE-B797-02F7-B12B70BA71A7}"/>
              </a:ext>
            </a:extLst>
          </p:cNvPr>
          <p:cNvSpPr txBox="1">
            <a:spLocks/>
          </p:cNvSpPr>
          <p:nvPr/>
        </p:nvSpPr>
        <p:spPr>
          <a:xfrm>
            <a:off x="296795" y="741127"/>
            <a:ext cx="6479145" cy="7292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pt-BR" sz="3200" b="1" dirty="0">
                <a:latin typeface="+mn-lt"/>
              </a:rPr>
              <a:t>JUSTIFICATIVA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66C44-5DD4-2A2C-097A-4C6A167E0AB4}"/>
              </a:ext>
            </a:extLst>
          </p:cNvPr>
          <p:cNvSpPr txBox="1"/>
          <p:nvPr/>
        </p:nvSpPr>
        <p:spPr>
          <a:xfrm>
            <a:off x="414129" y="1286332"/>
            <a:ext cx="1122459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40" dirty="0"/>
              <a:t>A </a:t>
            </a:r>
            <a:r>
              <a:rPr lang="en-US" sz="1740" dirty="0" err="1"/>
              <a:t>presente</a:t>
            </a:r>
            <a:r>
              <a:rPr lang="en-US" sz="1740" dirty="0"/>
              <a:t> </a:t>
            </a:r>
            <a:r>
              <a:rPr lang="en-US" sz="1740" dirty="0" err="1"/>
              <a:t>hipótese</a:t>
            </a:r>
            <a:r>
              <a:rPr lang="en-US" sz="1740" dirty="0"/>
              <a:t> </a:t>
            </a:r>
            <a:r>
              <a:rPr lang="en-US" sz="1740" dirty="0" err="1"/>
              <a:t>fundamenta</a:t>
            </a:r>
            <a:r>
              <a:rPr lang="en-US" sz="1740" dirty="0"/>
              <a:t>-se </a:t>
            </a:r>
            <a:r>
              <a:rPr lang="en-US" sz="1740" dirty="0" err="1"/>
              <a:t>em</a:t>
            </a:r>
            <a:r>
              <a:rPr lang="en-US" sz="1740" dirty="0"/>
              <a:t> </a:t>
            </a:r>
            <a:r>
              <a:rPr lang="en-US" sz="1740" dirty="0" err="1"/>
              <a:t>avanços</a:t>
            </a:r>
            <a:r>
              <a:rPr lang="en-US" sz="1740" dirty="0"/>
              <a:t> </a:t>
            </a:r>
            <a:r>
              <a:rPr lang="en-US" sz="1740" dirty="0" err="1"/>
              <a:t>científicos</a:t>
            </a:r>
            <a:r>
              <a:rPr lang="en-US" sz="1740" dirty="0"/>
              <a:t> </a:t>
            </a:r>
            <a:r>
              <a:rPr lang="en-US" sz="1740" dirty="0" err="1"/>
              <a:t>consolidados</a:t>
            </a:r>
            <a:r>
              <a:rPr lang="en-US" sz="1740" dirty="0"/>
              <a:t> que </a:t>
            </a:r>
            <a:r>
              <a:rPr lang="en-US" sz="1740" dirty="0" err="1"/>
              <a:t>demonstram</a:t>
            </a:r>
            <a:r>
              <a:rPr lang="en-US" sz="1740" dirty="0"/>
              <a:t> o </a:t>
            </a:r>
            <a:r>
              <a:rPr lang="en-US" sz="1740" dirty="0" err="1"/>
              <a:t>potencial</a:t>
            </a:r>
            <a:r>
              <a:rPr lang="en-US" sz="1740" dirty="0"/>
              <a:t> dos </a:t>
            </a:r>
            <a:r>
              <a:rPr lang="en-US" sz="1740" dirty="0" err="1"/>
              <a:t>sistemas</a:t>
            </a:r>
            <a:r>
              <a:rPr lang="en-US" sz="1740" dirty="0"/>
              <a:t> </a:t>
            </a:r>
            <a:r>
              <a:rPr lang="en-US" sz="1740" dirty="0" err="1"/>
              <a:t>multiagente</a:t>
            </a:r>
            <a:r>
              <a:rPr lang="en-US" sz="1740" dirty="0"/>
              <a:t>. </a:t>
            </a:r>
            <a:r>
              <a:rPr lang="en-US" sz="1740" dirty="0" err="1"/>
              <a:t>Pesquisas</a:t>
            </a:r>
            <a:r>
              <a:rPr lang="en-US" sz="1740" dirty="0"/>
              <a:t> </a:t>
            </a:r>
            <a:r>
              <a:rPr lang="en-US" sz="1740" dirty="0" err="1"/>
              <a:t>recentes</a:t>
            </a:r>
            <a:r>
              <a:rPr lang="en-US" sz="1740" dirty="0"/>
              <a:t> </a:t>
            </a:r>
            <a:r>
              <a:rPr lang="en-US" sz="1740" dirty="0" err="1"/>
              <a:t>comprovam</a:t>
            </a:r>
            <a:r>
              <a:rPr lang="en-US" sz="1740" dirty="0"/>
              <a:t> a </a:t>
            </a:r>
            <a:r>
              <a:rPr lang="en-US" sz="1740" dirty="0" err="1"/>
              <a:t>eficácia</a:t>
            </a:r>
            <a:r>
              <a:rPr lang="en-US" sz="1740" dirty="0"/>
              <a:t> de </a:t>
            </a:r>
            <a:r>
              <a:rPr lang="en-US" sz="1740" dirty="0" err="1"/>
              <a:t>agentes</a:t>
            </a:r>
            <a:r>
              <a:rPr lang="en-US" sz="1740" dirty="0"/>
              <a:t> </a:t>
            </a:r>
            <a:r>
              <a:rPr lang="en-US" sz="1740" dirty="0" err="1"/>
              <a:t>colaborativos</a:t>
            </a:r>
            <a:r>
              <a:rPr lang="en-US" sz="1740" dirty="0"/>
              <a:t> </a:t>
            </a:r>
            <a:r>
              <a:rPr lang="en-US" sz="1740" dirty="0" err="1"/>
              <a:t>na</a:t>
            </a:r>
            <a:r>
              <a:rPr lang="en-US" sz="1740" dirty="0"/>
              <a:t> </a:t>
            </a:r>
            <a:r>
              <a:rPr lang="en-US" sz="1740" dirty="0" err="1"/>
              <a:t>detecção</a:t>
            </a:r>
            <a:r>
              <a:rPr lang="en-US" sz="1740" dirty="0"/>
              <a:t> de </a:t>
            </a:r>
            <a:r>
              <a:rPr lang="en-US" sz="1740" dirty="0" err="1"/>
              <a:t>ameaças</a:t>
            </a:r>
            <a:r>
              <a:rPr lang="en-US" sz="1740" dirty="0"/>
              <a:t> </a:t>
            </a:r>
            <a:r>
              <a:rPr lang="en-US" sz="1740" dirty="0" err="1"/>
              <a:t>cibernéticas</a:t>
            </a:r>
            <a:r>
              <a:rPr lang="en-US" sz="1740" dirty="0"/>
              <a:t> (</a:t>
            </a:r>
            <a:r>
              <a:rPr lang="en-US" sz="1740" dirty="0" err="1"/>
              <a:t>Finistrella</a:t>
            </a:r>
            <a:r>
              <a:rPr lang="en-US" sz="1740" dirty="0"/>
              <a:t>; Mariani; </a:t>
            </a:r>
            <a:r>
              <a:rPr lang="en-US" sz="1740" dirty="0" err="1"/>
              <a:t>Zambonelli</a:t>
            </a:r>
            <a:r>
              <a:rPr lang="en-US" sz="1740" dirty="0"/>
              <a:t>, 2025), </a:t>
            </a:r>
            <a:r>
              <a:rPr lang="en-US" sz="1740" dirty="0" err="1"/>
              <a:t>especialmente</a:t>
            </a:r>
            <a:r>
              <a:rPr lang="en-US" sz="1740" dirty="0"/>
              <a:t> </a:t>
            </a:r>
            <a:r>
              <a:rPr lang="en-US" sz="1740" dirty="0" err="1"/>
              <a:t>quando</a:t>
            </a:r>
            <a:r>
              <a:rPr lang="en-US" sz="1740" dirty="0"/>
              <a:t> </a:t>
            </a:r>
            <a:r>
              <a:rPr lang="en-US" sz="1740" dirty="0" err="1"/>
              <a:t>equipados</a:t>
            </a:r>
            <a:r>
              <a:rPr lang="en-US" sz="1740" dirty="0"/>
              <a:t> com </a:t>
            </a:r>
            <a:r>
              <a:rPr lang="en-US" sz="1740" dirty="0" err="1"/>
              <a:t>modelos</a:t>
            </a:r>
            <a:r>
              <a:rPr lang="en-US" sz="1740" dirty="0"/>
              <a:t> de </a:t>
            </a:r>
            <a:r>
              <a:rPr lang="en-US" sz="1740" dirty="0" err="1"/>
              <a:t>aprendizado</a:t>
            </a:r>
            <a:r>
              <a:rPr lang="en-US" sz="1740" dirty="0"/>
              <a:t> profundo que </a:t>
            </a:r>
            <a:r>
              <a:rPr lang="en-US" sz="1740" dirty="0" err="1"/>
              <a:t>alcançam</a:t>
            </a:r>
            <a:r>
              <a:rPr lang="en-US" sz="1740" dirty="0"/>
              <a:t> </a:t>
            </a:r>
            <a:r>
              <a:rPr lang="en-US" sz="1740" dirty="0" err="1"/>
              <a:t>precisão</a:t>
            </a:r>
            <a:r>
              <a:rPr lang="en-US" sz="1740" dirty="0"/>
              <a:t> </a:t>
            </a:r>
            <a:r>
              <a:rPr lang="en-US" sz="1740" dirty="0" err="1"/>
              <a:t>elevada</a:t>
            </a:r>
            <a:r>
              <a:rPr lang="en-US" sz="1740" dirty="0"/>
              <a:t> </a:t>
            </a:r>
            <a:r>
              <a:rPr lang="en-US" sz="1740" dirty="0" err="1"/>
              <a:t>na</a:t>
            </a:r>
            <a:r>
              <a:rPr lang="en-US" sz="1740" dirty="0"/>
              <a:t> </a:t>
            </a:r>
            <a:r>
              <a:rPr lang="en-US" sz="1740" dirty="0" err="1"/>
              <a:t>identificação</a:t>
            </a:r>
            <a:r>
              <a:rPr lang="en-US" sz="1740" dirty="0"/>
              <a:t> de </a:t>
            </a:r>
            <a:r>
              <a:rPr lang="en-US" sz="1740" dirty="0" err="1"/>
              <a:t>comportamentos</a:t>
            </a:r>
            <a:r>
              <a:rPr lang="en-US" sz="1740" dirty="0"/>
              <a:t> </a:t>
            </a:r>
            <a:r>
              <a:rPr lang="en-US" sz="1740" dirty="0" err="1"/>
              <a:t>maliciosos</a:t>
            </a:r>
            <a:r>
              <a:rPr lang="en-US" sz="1740" dirty="0"/>
              <a:t> (Nazim et al., 2025). </a:t>
            </a:r>
            <a:r>
              <a:rPr lang="en-US" sz="1740" dirty="0" err="1"/>
              <a:t>Destaca</a:t>
            </a:r>
            <a:r>
              <a:rPr lang="en-US" sz="1740" dirty="0"/>
              <a:t>-se o </a:t>
            </a:r>
            <a:r>
              <a:rPr lang="en-US" sz="1740" dirty="0" err="1"/>
              <a:t>papel</a:t>
            </a:r>
            <a:r>
              <a:rPr lang="en-US" sz="1740" dirty="0"/>
              <a:t> </a:t>
            </a:r>
            <a:r>
              <a:rPr lang="en-US" sz="1740" dirty="0" err="1"/>
              <a:t>emergente</a:t>
            </a:r>
            <a:r>
              <a:rPr lang="en-US" sz="1740" dirty="0"/>
              <a:t> dos </a:t>
            </a:r>
            <a:r>
              <a:rPr lang="en-US" sz="1740" dirty="0" err="1"/>
              <a:t>agentes</a:t>
            </a:r>
            <a:r>
              <a:rPr lang="en-US" sz="1740" dirty="0"/>
              <a:t> </a:t>
            </a:r>
            <a:r>
              <a:rPr lang="en-US" sz="1740" dirty="0" err="1"/>
              <a:t>baseados</a:t>
            </a:r>
            <a:r>
              <a:rPr lang="en-US" sz="1740" dirty="0"/>
              <a:t> </a:t>
            </a:r>
            <a:r>
              <a:rPr lang="en-US" sz="1740" dirty="0" err="1"/>
              <a:t>em</a:t>
            </a:r>
            <a:r>
              <a:rPr lang="en-US" sz="1740" dirty="0"/>
              <a:t> </a:t>
            </a:r>
            <a:r>
              <a:rPr lang="en-US" sz="1740" dirty="0" err="1"/>
              <a:t>modelos</a:t>
            </a:r>
            <a:r>
              <a:rPr lang="en-US" sz="1740" dirty="0"/>
              <a:t> de </a:t>
            </a:r>
            <a:r>
              <a:rPr lang="en-US" sz="1740" dirty="0" err="1"/>
              <a:t>linguagem</a:t>
            </a:r>
            <a:r>
              <a:rPr lang="en-US" sz="1740" dirty="0"/>
              <a:t> (LLM) </a:t>
            </a:r>
            <a:r>
              <a:rPr lang="en-US" sz="1740" dirty="0" err="1"/>
              <a:t>na</a:t>
            </a:r>
            <a:r>
              <a:rPr lang="en-US" sz="1740" dirty="0"/>
              <a:t> </a:t>
            </a:r>
            <a:r>
              <a:rPr lang="en-US" sz="1740" dirty="0" err="1"/>
              <a:t>cibersegurança</a:t>
            </a:r>
            <a:r>
              <a:rPr lang="en-US" sz="1740" dirty="0"/>
              <a:t>, que </a:t>
            </a:r>
            <a:r>
              <a:rPr lang="en-US" sz="1740" dirty="0" err="1"/>
              <a:t>demonstram</a:t>
            </a:r>
            <a:r>
              <a:rPr lang="en-US" sz="1740" dirty="0"/>
              <a:t> </a:t>
            </a:r>
            <a:r>
              <a:rPr lang="en-US" sz="1740" dirty="0" err="1"/>
              <a:t>capacidades</a:t>
            </a:r>
            <a:r>
              <a:rPr lang="en-US" sz="1740" dirty="0"/>
              <a:t> </a:t>
            </a:r>
            <a:r>
              <a:rPr lang="en-US" sz="1740" dirty="0" err="1"/>
              <a:t>promissoras</a:t>
            </a:r>
            <a:r>
              <a:rPr lang="en-US" sz="1740" dirty="0"/>
              <a:t> </a:t>
            </a:r>
            <a:r>
              <a:rPr lang="en-US" sz="1740" dirty="0" err="1"/>
              <a:t>quando</a:t>
            </a:r>
            <a:r>
              <a:rPr lang="en-US" sz="1740" dirty="0"/>
              <a:t> </a:t>
            </a:r>
            <a:r>
              <a:rPr lang="en-US" sz="1740" dirty="0" err="1"/>
              <a:t>integrados</a:t>
            </a:r>
            <a:r>
              <a:rPr lang="en-US" sz="1740" dirty="0"/>
              <a:t> a ferramentas </a:t>
            </a:r>
            <a:r>
              <a:rPr lang="en-US" sz="1740" dirty="0" err="1"/>
              <a:t>adequadas</a:t>
            </a:r>
            <a:r>
              <a:rPr lang="en-US" sz="1740" dirty="0"/>
              <a:t> para </a:t>
            </a:r>
            <a:r>
              <a:rPr lang="en-US" sz="1740" dirty="0" err="1"/>
              <a:t>percepção</a:t>
            </a:r>
            <a:r>
              <a:rPr lang="en-US" sz="1740" dirty="0"/>
              <a:t>, </a:t>
            </a:r>
            <a:r>
              <a:rPr lang="en-US" sz="1740" dirty="0" err="1"/>
              <a:t>análise</a:t>
            </a:r>
            <a:r>
              <a:rPr lang="en-US" sz="1740" dirty="0"/>
              <a:t> e </a:t>
            </a:r>
            <a:r>
              <a:rPr lang="en-US" sz="1740" dirty="0" err="1"/>
              <a:t>execução</a:t>
            </a:r>
            <a:r>
              <a:rPr lang="en-US" sz="1740" dirty="0"/>
              <a:t> de </a:t>
            </a:r>
            <a:r>
              <a:rPr lang="en-US" sz="1740" dirty="0" err="1"/>
              <a:t>tarefas</a:t>
            </a:r>
            <a:r>
              <a:rPr lang="en-US" sz="1740" dirty="0"/>
              <a:t>, </a:t>
            </a:r>
            <a:r>
              <a:rPr lang="en-US" sz="1740" dirty="0" err="1"/>
              <a:t>apesar</a:t>
            </a:r>
            <a:r>
              <a:rPr lang="en-US" sz="1740" dirty="0"/>
              <a:t> dos </a:t>
            </a:r>
            <a:r>
              <a:rPr lang="en-US" sz="1740" dirty="0" err="1"/>
              <a:t>desafios</a:t>
            </a:r>
            <a:r>
              <a:rPr lang="en-US" sz="1740" dirty="0"/>
              <a:t> </a:t>
            </a:r>
            <a:r>
              <a:rPr lang="en-US" sz="1740" dirty="0" err="1"/>
              <a:t>inerentes</a:t>
            </a:r>
            <a:r>
              <a:rPr lang="en-US" sz="1740" dirty="0"/>
              <a:t> (Deng et al., 2025). A </a:t>
            </a:r>
            <a:r>
              <a:rPr lang="en-US" sz="1740" dirty="0" err="1"/>
              <a:t>literatura</a:t>
            </a:r>
            <a:r>
              <a:rPr lang="en-US" sz="1740" dirty="0"/>
              <a:t> </a:t>
            </a:r>
            <a:r>
              <a:rPr lang="en-US" sz="1740" dirty="0" err="1"/>
              <a:t>científica</a:t>
            </a:r>
            <a:r>
              <a:rPr lang="en-US" sz="1740" dirty="0"/>
              <a:t> </a:t>
            </a:r>
            <a:r>
              <a:rPr lang="en-US" sz="1740" dirty="0" err="1"/>
              <a:t>evidencia</a:t>
            </a:r>
            <a:r>
              <a:rPr lang="en-US" sz="1740" dirty="0"/>
              <a:t> que a </a:t>
            </a:r>
            <a:r>
              <a:rPr lang="en-US" sz="1740" dirty="0" err="1"/>
              <a:t>análise</a:t>
            </a:r>
            <a:r>
              <a:rPr lang="en-US" sz="1740" dirty="0"/>
              <a:t> </a:t>
            </a:r>
            <a:r>
              <a:rPr lang="en-US" sz="1740" dirty="0" err="1"/>
              <a:t>comportamental</a:t>
            </a:r>
            <a:r>
              <a:rPr lang="en-US" sz="1740" dirty="0"/>
              <a:t> </a:t>
            </a:r>
            <a:r>
              <a:rPr lang="en-US" sz="1740" dirty="0" err="1"/>
              <a:t>distribuída</a:t>
            </a:r>
            <a:r>
              <a:rPr lang="en-US" sz="1740" dirty="0"/>
              <a:t> </a:t>
            </a:r>
            <a:r>
              <a:rPr lang="en-US" sz="1740" dirty="0" err="1"/>
              <a:t>é</a:t>
            </a:r>
            <a:r>
              <a:rPr lang="en-US" sz="1740" dirty="0"/>
              <a:t> fundamental para </a:t>
            </a:r>
            <a:r>
              <a:rPr lang="en-US" sz="1740" dirty="0" err="1"/>
              <a:t>correlacionar</a:t>
            </a:r>
            <a:r>
              <a:rPr lang="en-US" sz="1740" dirty="0"/>
              <a:t> </a:t>
            </a:r>
            <a:r>
              <a:rPr lang="en-US" sz="1740" dirty="0" err="1"/>
              <a:t>eventos</a:t>
            </a:r>
            <a:r>
              <a:rPr lang="en-US" sz="1740" dirty="0"/>
              <a:t> e </a:t>
            </a:r>
            <a:r>
              <a:rPr lang="en-US" sz="1740" dirty="0" err="1"/>
              <a:t>identificar</a:t>
            </a:r>
            <a:r>
              <a:rPr lang="en-US" sz="1740" dirty="0"/>
              <a:t> </a:t>
            </a:r>
            <a:r>
              <a:rPr lang="en-US" sz="1740" dirty="0" err="1"/>
              <a:t>padrões</a:t>
            </a:r>
            <a:r>
              <a:rPr lang="en-US" sz="1740" dirty="0"/>
              <a:t> </a:t>
            </a:r>
            <a:r>
              <a:rPr lang="en-US" sz="1740" dirty="0" err="1"/>
              <a:t>suspeitos</a:t>
            </a:r>
            <a:r>
              <a:rPr lang="en-US" sz="1740" dirty="0"/>
              <a:t> (Mohamed, 2025), </a:t>
            </a:r>
            <a:r>
              <a:rPr lang="en-US" sz="1740" dirty="0" err="1"/>
              <a:t>especialmente</a:t>
            </a:r>
            <a:r>
              <a:rPr lang="en-US" sz="1740" dirty="0"/>
              <a:t> </a:t>
            </a:r>
            <a:r>
              <a:rPr lang="en-US" sz="1740" dirty="0" err="1"/>
              <a:t>quando</a:t>
            </a:r>
            <a:r>
              <a:rPr lang="en-US" sz="1740" dirty="0"/>
              <a:t> </a:t>
            </a:r>
            <a:r>
              <a:rPr lang="en-US" sz="1740" dirty="0" err="1"/>
              <a:t>combinada</a:t>
            </a:r>
            <a:r>
              <a:rPr lang="en-US" sz="1740" dirty="0"/>
              <a:t> com </a:t>
            </a:r>
            <a:r>
              <a:rPr lang="en-US" sz="1740" dirty="0" err="1"/>
              <a:t>técnicas</a:t>
            </a:r>
            <a:r>
              <a:rPr lang="en-US" sz="1740" dirty="0"/>
              <a:t> </a:t>
            </a:r>
            <a:r>
              <a:rPr lang="en-US" sz="1740" dirty="0" err="1"/>
              <a:t>proativas</a:t>
            </a:r>
            <a:r>
              <a:rPr lang="en-US" sz="1740" dirty="0"/>
              <a:t> de </a:t>
            </a:r>
            <a:r>
              <a:rPr lang="en-US" sz="1740" dirty="0" err="1"/>
              <a:t>busca</a:t>
            </a:r>
            <a:r>
              <a:rPr lang="en-US" sz="1740" dirty="0"/>
              <a:t> </a:t>
            </a:r>
            <a:r>
              <a:rPr lang="en-US" sz="1740" dirty="0" err="1"/>
              <a:t>por</a:t>
            </a:r>
            <a:r>
              <a:rPr lang="en-US" sz="1740" dirty="0"/>
              <a:t> </a:t>
            </a:r>
            <a:r>
              <a:rPr lang="en-US" sz="1740" dirty="0" err="1"/>
              <a:t>ameaças</a:t>
            </a:r>
            <a:r>
              <a:rPr lang="en-US" sz="1740" dirty="0"/>
              <a:t> que </a:t>
            </a:r>
            <a:r>
              <a:rPr lang="en-US" sz="1740" dirty="0" err="1"/>
              <a:t>superam</a:t>
            </a:r>
            <a:r>
              <a:rPr lang="en-US" sz="1740" dirty="0"/>
              <a:t> as </a:t>
            </a:r>
            <a:r>
              <a:rPr lang="en-US" sz="1740" dirty="0" err="1"/>
              <a:t>limitações</a:t>
            </a:r>
            <a:r>
              <a:rPr lang="en-US" sz="1740" dirty="0"/>
              <a:t> dos </a:t>
            </a:r>
            <a:r>
              <a:rPr lang="en-US" sz="1740" dirty="0" err="1"/>
              <a:t>métodos</a:t>
            </a:r>
            <a:r>
              <a:rPr lang="en-US" sz="1740" dirty="0"/>
              <a:t> </a:t>
            </a:r>
            <a:r>
              <a:rPr lang="en-US" sz="1740" dirty="0" err="1"/>
              <a:t>reativos</a:t>
            </a:r>
            <a:r>
              <a:rPr lang="en-US" sz="1740" dirty="0"/>
              <a:t> </a:t>
            </a:r>
            <a:r>
              <a:rPr lang="en-US" sz="1740" dirty="0" err="1"/>
              <a:t>convencionais</a:t>
            </a:r>
            <a:r>
              <a:rPr lang="en-US" sz="1740" dirty="0"/>
              <a:t> (Mahboubi et al., 2024). Diante do </a:t>
            </a:r>
            <a:r>
              <a:rPr lang="en-US" sz="1740" dirty="0" err="1"/>
              <a:t>crescimento</a:t>
            </a:r>
            <a:r>
              <a:rPr lang="en-US" sz="1740" dirty="0"/>
              <a:t> </a:t>
            </a:r>
            <a:r>
              <a:rPr lang="en-US" sz="1740" dirty="0" err="1"/>
              <a:t>exponencial</a:t>
            </a:r>
            <a:r>
              <a:rPr lang="en-US" sz="1740" dirty="0"/>
              <a:t> de </a:t>
            </a:r>
            <a:r>
              <a:rPr lang="en-US" sz="1740" dirty="0" err="1"/>
              <a:t>ataques</a:t>
            </a:r>
            <a:r>
              <a:rPr lang="en-US" sz="1740" dirty="0"/>
              <a:t> zero-day e do </a:t>
            </a:r>
            <a:r>
              <a:rPr lang="en-US" sz="1740" dirty="0" err="1"/>
              <a:t>direcionamento</a:t>
            </a:r>
            <a:r>
              <a:rPr lang="en-US" sz="1740" dirty="0"/>
              <a:t> </a:t>
            </a:r>
            <a:r>
              <a:rPr lang="en-US" sz="1740" dirty="0" err="1"/>
              <a:t>sistemático</a:t>
            </a:r>
            <a:r>
              <a:rPr lang="en-US" sz="1740" dirty="0"/>
              <a:t> a ambientes </a:t>
            </a:r>
            <a:r>
              <a:rPr lang="en-US" sz="1740" dirty="0" err="1"/>
              <a:t>corporativos</a:t>
            </a:r>
            <a:r>
              <a:rPr lang="en-US" sz="1740" dirty="0"/>
              <a:t> (Google, 2025), a </a:t>
            </a:r>
            <a:r>
              <a:rPr lang="en-US" sz="1740" dirty="0" err="1"/>
              <a:t>convergência</a:t>
            </a:r>
            <a:r>
              <a:rPr lang="en-US" sz="1740" dirty="0"/>
              <a:t> dessas </a:t>
            </a:r>
            <a:r>
              <a:rPr lang="en-US" sz="1740" dirty="0" err="1"/>
              <a:t>tecnologias</a:t>
            </a:r>
            <a:r>
              <a:rPr lang="en-US" sz="1740" dirty="0"/>
              <a:t> - </a:t>
            </a:r>
            <a:r>
              <a:rPr lang="en-US" sz="1740" dirty="0" err="1"/>
              <a:t>agentes</a:t>
            </a:r>
            <a:r>
              <a:rPr lang="en-US" sz="1740" dirty="0"/>
              <a:t> </a:t>
            </a:r>
            <a:r>
              <a:rPr lang="en-US" sz="1740" dirty="0" err="1"/>
              <a:t>colaborativos</a:t>
            </a:r>
            <a:r>
              <a:rPr lang="en-US" sz="1740" dirty="0"/>
              <a:t>, </a:t>
            </a:r>
            <a:r>
              <a:rPr lang="en-US" sz="1740" dirty="0" err="1"/>
              <a:t>análise</a:t>
            </a:r>
            <a:r>
              <a:rPr lang="en-US" sz="1740" dirty="0"/>
              <a:t> </a:t>
            </a:r>
            <a:r>
              <a:rPr lang="en-US" sz="1740" dirty="0" err="1"/>
              <a:t>comportamental</a:t>
            </a:r>
            <a:r>
              <a:rPr lang="en-US" sz="1740" dirty="0"/>
              <a:t> </a:t>
            </a:r>
            <a:r>
              <a:rPr lang="en-US" sz="1740" dirty="0" err="1"/>
              <a:t>distribuída</a:t>
            </a:r>
            <a:r>
              <a:rPr lang="en-US" sz="1740" dirty="0"/>
              <a:t> e </a:t>
            </a:r>
            <a:r>
              <a:rPr lang="en-US" sz="1740" dirty="0" err="1"/>
              <a:t>aprendizado</a:t>
            </a:r>
            <a:r>
              <a:rPr lang="en-US" sz="1740" dirty="0"/>
              <a:t> </a:t>
            </a:r>
            <a:r>
              <a:rPr lang="en-US" sz="1740" dirty="0" err="1"/>
              <a:t>contínuo</a:t>
            </a:r>
            <a:r>
              <a:rPr lang="en-US" sz="1740" dirty="0"/>
              <a:t> - </a:t>
            </a:r>
            <a:r>
              <a:rPr lang="en-US" sz="1740" dirty="0" err="1"/>
              <a:t>apresenta</a:t>
            </a:r>
            <a:r>
              <a:rPr lang="en-US" sz="1740" dirty="0"/>
              <a:t>-se </a:t>
            </a:r>
            <a:r>
              <a:rPr lang="en-US" sz="1740" dirty="0" err="1"/>
              <a:t>como</a:t>
            </a:r>
            <a:r>
              <a:rPr lang="en-US" sz="1740" dirty="0"/>
              <a:t> </a:t>
            </a:r>
            <a:r>
              <a:rPr lang="en-US" sz="1740" dirty="0" err="1"/>
              <a:t>caminho</a:t>
            </a:r>
            <a:r>
              <a:rPr lang="en-US" sz="1740" dirty="0"/>
              <a:t> </a:t>
            </a:r>
            <a:r>
              <a:rPr lang="en-US" sz="1740" dirty="0" err="1"/>
              <a:t>viável</a:t>
            </a:r>
            <a:r>
              <a:rPr lang="en-US" sz="1740" dirty="0"/>
              <a:t> para </a:t>
            </a:r>
            <a:r>
              <a:rPr lang="en-US" sz="1740" dirty="0" err="1"/>
              <a:t>detectar</a:t>
            </a:r>
            <a:r>
              <a:rPr lang="en-US" sz="1740" dirty="0"/>
              <a:t> e responder </a:t>
            </a:r>
            <a:r>
              <a:rPr lang="en-US" sz="1740" dirty="0" err="1"/>
              <a:t>efetivamente</a:t>
            </a:r>
            <a:r>
              <a:rPr lang="en-US" sz="1740" dirty="0"/>
              <a:t> a spywares que </a:t>
            </a:r>
            <a:r>
              <a:rPr lang="en-US" sz="1740" dirty="0" err="1"/>
              <a:t>evitam</a:t>
            </a:r>
            <a:r>
              <a:rPr lang="en-US" sz="1740" dirty="0"/>
              <a:t> </a:t>
            </a:r>
            <a:r>
              <a:rPr lang="en-US" sz="1740" dirty="0" err="1"/>
              <a:t>consistentemente</a:t>
            </a:r>
            <a:r>
              <a:rPr lang="en-US" sz="1740" dirty="0"/>
              <a:t> </a:t>
            </a:r>
            <a:r>
              <a:rPr lang="en-US" sz="1740" dirty="0" err="1"/>
              <a:t>os</a:t>
            </a:r>
            <a:r>
              <a:rPr lang="en-US" sz="1740" dirty="0"/>
              <a:t> </a:t>
            </a:r>
            <a:r>
              <a:rPr lang="en-US" sz="1740" dirty="0" err="1"/>
              <a:t>sistemas</a:t>
            </a:r>
            <a:r>
              <a:rPr lang="en-US" sz="1740" dirty="0"/>
              <a:t> de </a:t>
            </a:r>
            <a:r>
              <a:rPr lang="en-US" sz="1740" dirty="0" err="1"/>
              <a:t>detecção</a:t>
            </a:r>
            <a:r>
              <a:rPr lang="en-US" sz="1740" dirty="0"/>
              <a:t> </a:t>
            </a:r>
            <a:r>
              <a:rPr lang="en-US" sz="1740" dirty="0" err="1"/>
              <a:t>tradicionais</a:t>
            </a:r>
            <a:r>
              <a:rPr lang="en-US" sz="174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85CDA-A03A-617B-9168-D070B825F2C1}"/>
              </a:ext>
            </a:extLst>
          </p:cNvPr>
          <p:cNvSpPr txBox="1"/>
          <p:nvPr/>
        </p:nvSpPr>
        <p:spPr>
          <a:xfrm>
            <a:off x="414129" y="4882269"/>
            <a:ext cx="110854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DENG, Z. et al. AI agents under threat: a survey of key security challenges and future pathways. </a:t>
            </a:r>
            <a:r>
              <a:rPr lang="en-US" sz="1000" b="1" dirty="0"/>
              <a:t>ACM Computing Surveys</a:t>
            </a:r>
            <a:r>
              <a:rPr lang="en-US" sz="1000" dirty="0"/>
              <a:t>, v. 58, n. 7, p. 1-36, 2025. DOI: 10.1145/3716628.</a:t>
            </a:r>
          </a:p>
          <a:p>
            <a:r>
              <a:rPr lang="en-US" sz="1000" dirty="0"/>
              <a:t>FINISTRELLA, S.; MARIANI, S.; ZAMBONELLI, F. Multi-agent reinforcement learning for cybersecurity: classification and survey. </a:t>
            </a:r>
            <a:r>
              <a:rPr lang="en-US" sz="1000" b="1" dirty="0"/>
              <a:t>Intelligent Systems with Applications</a:t>
            </a:r>
            <a:r>
              <a:rPr lang="en-US" sz="1000" dirty="0"/>
              <a:t>, v. 26, n. 200495, jun. 2025. DOI: 10.1016/j.iswa.2025.200495.</a:t>
            </a:r>
          </a:p>
          <a:p>
            <a:r>
              <a:rPr lang="en-US" sz="1000" dirty="0"/>
              <a:t>GOOGLE. Threat Horizons Report: AI insights from Google's cybersecurity teams, 2025. </a:t>
            </a:r>
            <a:r>
              <a:rPr lang="en-US" sz="1000" dirty="0" err="1"/>
              <a:t>Disponível</a:t>
            </a:r>
            <a:r>
              <a:rPr lang="en-US" sz="1000" dirty="0"/>
              <a:t> </a:t>
            </a:r>
            <a:r>
              <a:rPr lang="en-US" sz="1000" dirty="0" err="1"/>
              <a:t>em</a:t>
            </a:r>
            <a:r>
              <a:rPr lang="en-US" sz="1000" dirty="0"/>
              <a:t>: </a:t>
            </a:r>
            <a:r>
              <a:rPr lang="en-US" sz="1000" dirty="0">
                <a:hlinkClick r:id="rId3"/>
              </a:rPr>
              <a:t>https://services.google.com/fh/files/blogs/threat_horizons_report.pdf</a:t>
            </a:r>
            <a:r>
              <a:rPr lang="en-US" sz="1000" dirty="0"/>
              <a:t>. </a:t>
            </a:r>
            <a:r>
              <a:rPr lang="en-US" sz="1000" dirty="0" err="1"/>
              <a:t>Acesso</a:t>
            </a:r>
            <a:r>
              <a:rPr lang="en-US" sz="1000" dirty="0"/>
              <a:t> </a:t>
            </a:r>
            <a:r>
              <a:rPr lang="en-US" sz="1000" dirty="0" err="1"/>
              <a:t>em</a:t>
            </a:r>
            <a:r>
              <a:rPr lang="en-US" sz="1000" dirty="0"/>
              <a:t>: 11 </a:t>
            </a:r>
            <a:r>
              <a:rPr lang="en-US" sz="1000" dirty="0" err="1"/>
              <a:t>jul.</a:t>
            </a:r>
            <a:r>
              <a:rPr lang="en-US" sz="1000" dirty="0"/>
              <a:t> 2025.</a:t>
            </a:r>
          </a:p>
          <a:p>
            <a:r>
              <a:rPr lang="en-US" sz="1000" dirty="0"/>
              <a:t>MAHBOUBI, A. et al. Evolving techniques in cyber threat hunting: a systematic review. </a:t>
            </a:r>
            <a:r>
              <a:rPr lang="en-US" sz="1000" b="1" dirty="0"/>
              <a:t>Journal of Network and Computer Applications</a:t>
            </a:r>
            <a:r>
              <a:rPr lang="en-US" sz="1000" dirty="0"/>
              <a:t>, v. 232, p. 1-34, ago. 2024. DOI: 10.1016/j.jnca.2024.104004.</a:t>
            </a:r>
          </a:p>
          <a:p>
            <a:r>
              <a:rPr lang="en-US" sz="1000" dirty="0"/>
              <a:t>MOHAMED, N. Artificial intelligence and machine learning in cybersecurity: a deep dive into state-of-the-art techniques and future paradigms. </a:t>
            </a:r>
            <a:r>
              <a:rPr lang="en-US" sz="1000" b="1" dirty="0"/>
              <a:t>Knowledge and Information Systems</a:t>
            </a:r>
            <a:r>
              <a:rPr lang="en-US" sz="1000" dirty="0"/>
              <a:t>, 2025. DOI: 10.1007/s10115-025-02429-y.</a:t>
            </a:r>
          </a:p>
          <a:p>
            <a:r>
              <a:rPr lang="en-US" sz="1000" dirty="0"/>
              <a:t>NAZIM, S. et al. Multimodal malware classification using proposed ensemble deep neural network framework. </a:t>
            </a:r>
            <a:r>
              <a:rPr lang="en-US" sz="1000" b="1" dirty="0"/>
              <a:t>Scientific Reports</a:t>
            </a:r>
            <a:r>
              <a:rPr lang="en-US" sz="1000" dirty="0"/>
              <a:t>, v. 15, n. 18006, 2025. DOI: 10.1038/s41598-025-96203-3.</a:t>
            </a:r>
          </a:p>
        </p:txBody>
      </p:sp>
    </p:spTree>
    <p:extLst>
      <p:ext uri="{BB962C8B-B14F-4D97-AF65-F5344CB8AC3E}">
        <p14:creationId xmlns:p14="http://schemas.microsoft.com/office/powerpoint/2010/main" val="4001933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A7E8D-5076-3F42-46EA-E3FCEAAB4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61AFFBC-E953-B10F-F646-8DB381FA93DE}"/>
              </a:ext>
            </a:extLst>
          </p:cNvPr>
          <p:cNvSpPr txBox="1">
            <a:spLocks/>
          </p:cNvSpPr>
          <p:nvPr/>
        </p:nvSpPr>
        <p:spPr>
          <a:xfrm>
            <a:off x="10840840" y="6365233"/>
            <a:ext cx="1072300" cy="365125"/>
          </a:xfrm>
          <a:prstGeom prst="rect">
            <a:avLst/>
          </a:prstGeom>
        </p:spPr>
        <p:txBody>
          <a:bodyPr/>
          <a:lstStyle>
            <a:defPPr>
              <a:defRPr lang="en-BR"/>
            </a:defPPr>
            <a:lvl1pPr marL="0" algn="r" defTabSz="914400" rtl="0" eaLnBrk="1" latinLnBrk="0" hangingPunct="1">
              <a:defRPr sz="18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0C5910-6898-3F46-B791-FA6C3AAC1BD1}" type="slidenum">
              <a:rPr lang="en-BR" smtClean="0"/>
              <a:pPr/>
              <a:t>10</a:t>
            </a:fld>
            <a:endParaRPr lang="en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CF5414A-AD68-B739-50EA-F7D5F9E18DE3}"/>
              </a:ext>
            </a:extLst>
          </p:cNvPr>
          <p:cNvSpPr txBox="1">
            <a:spLocks/>
          </p:cNvSpPr>
          <p:nvPr/>
        </p:nvSpPr>
        <p:spPr>
          <a:xfrm>
            <a:off x="296795" y="741127"/>
            <a:ext cx="6479145" cy="7292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pt-BR" sz="3200" b="1" dirty="0">
                <a:latin typeface="+mn-lt"/>
              </a:rPr>
              <a:t>METODOLOGIA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28AFD-392D-1773-C7C4-465B7DD278BF}"/>
              </a:ext>
            </a:extLst>
          </p:cNvPr>
          <p:cNvSpPr txBox="1"/>
          <p:nvPr/>
        </p:nvSpPr>
        <p:spPr>
          <a:xfrm>
            <a:off x="483704" y="1470408"/>
            <a:ext cx="112245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1. </a:t>
            </a:r>
            <a:r>
              <a:rPr lang="en-US" sz="2000" b="1" dirty="0" err="1"/>
              <a:t>Definição</a:t>
            </a:r>
            <a:r>
              <a:rPr lang="en-US" sz="2000" b="1" dirty="0"/>
              <a:t> do </a:t>
            </a:r>
            <a:r>
              <a:rPr lang="en-US" sz="2000" b="1" dirty="0" err="1"/>
              <a:t>Ambiente</a:t>
            </a:r>
            <a:r>
              <a:rPr lang="en-US" sz="2000" b="1" dirty="0"/>
              <a:t> de Testes:</a:t>
            </a:r>
            <a:r>
              <a:rPr lang="en-US" sz="2000" dirty="0"/>
              <a:t> </a:t>
            </a:r>
            <a:r>
              <a:rPr lang="en-US" sz="2000" dirty="0" err="1"/>
              <a:t>Desenvolvimento</a:t>
            </a:r>
            <a:r>
              <a:rPr lang="en-US" sz="2000" dirty="0"/>
              <a:t> e </a:t>
            </a:r>
            <a:r>
              <a:rPr lang="en-US" sz="2000" dirty="0" err="1"/>
              <a:t>configuração</a:t>
            </a:r>
            <a:r>
              <a:rPr lang="en-US" sz="2000" dirty="0"/>
              <a:t> de </a:t>
            </a:r>
            <a:r>
              <a:rPr lang="en-US" sz="2000" dirty="0" err="1"/>
              <a:t>máquina</a:t>
            </a:r>
            <a:r>
              <a:rPr lang="en-US" sz="2000" dirty="0"/>
              <a:t> virtual (VM) que </a:t>
            </a:r>
            <a:r>
              <a:rPr lang="en-US" sz="2000" dirty="0" err="1"/>
              <a:t>servirá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base </a:t>
            </a:r>
            <a:r>
              <a:rPr lang="en-US" sz="2000" dirty="0" err="1"/>
              <a:t>replicável</a:t>
            </a:r>
            <a:r>
              <a:rPr lang="en-US" sz="2000" dirty="0"/>
              <a:t> e </a:t>
            </a:r>
            <a:r>
              <a:rPr lang="en-US" sz="2000" dirty="0" err="1"/>
              <a:t>controlada</a:t>
            </a:r>
            <a:r>
              <a:rPr lang="en-US" sz="2000" dirty="0"/>
              <a:t> para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experimentos</a:t>
            </a:r>
            <a:r>
              <a:rPr lang="en-US" sz="2000" dirty="0"/>
              <a:t>, </a:t>
            </a:r>
            <a:r>
              <a:rPr lang="en-US" sz="2000" dirty="0" err="1"/>
              <a:t>simulando</a:t>
            </a:r>
            <a:r>
              <a:rPr lang="en-US" sz="2000" dirty="0"/>
              <a:t> um </a:t>
            </a:r>
            <a:r>
              <a:rPr lang="en-US" sz="2000" dirty="0" err="1"/>
              <a:t>ambiente</a:t>
            </a:r>
            <a:r>
              <a:rPr lang="en-US" sz="2000" dirty="0"/>
              <a:t> </a:t>
            </a:r>
            <a:r>
              <a:rPr lang="en-US" sz="2000" dirty="0" err="1"/>
              <a:t>corporativo</a:t>
            </a:r>
            <a:r>
              <a:rPr lang="en-US" sz="2000" dirty="0"/>
              <a:t> </a:t>
            </a:r>
            <a:r>
              <a:rPr lang="en-US" sz="2000" dirty="0" err="1"/>
              <a:t>padrão</a:t>
            </a:r>
            <a:r>
              <a:rPr lang="en-US" sz="2000" dirty="0"/>
              <a:t>.</a:t>
            </a:r>
          </a:p>
          <a:p>
            <a:r>
              <a:rPr lang="en-US" sz="2000" b="1" dirty="0"/>
              <a:t>2. Design da </a:t>
            </a:r>
            <a:r>
              <a:rPr lang="en-US" sz="2000" b="1" dirty="0" err="1"/>
              <a:t>Arquitetura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Modelagem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r>
              <a:rPr lang="en-US" sz="2000" dirty="0"/>
              <a:t> multi-</a:t>
            </a:r>
            <a:r>
              <a:rPr lang="en-US" sz="2000" dirty="0" err="1"/>
              <a:t>agente</a:t>
            </a:r>
            <a:r>
              <a:rPr lang="en-US" sz="2000" dirty="0"/>
              <a:t>, </a:t>
            </a:r>
            <a:r>
              <a:rPr lang="en-US" sz="2000" dirty="0" err="1"/>
              <a:t>definindo</a:t>
            </a:r>
            <a:r>
              <a:rPr lang="en-US" sz="2000" dirty="0"/>
              <a:t> as </a:t>
            </a:r>
            <a:r>
              <a:rPr lang="en-US" sz="2000" dirty="0" err="1"/>
              <a:t>especializações</a:t>
            </a:r>
            <a:r>
              <a:rPr lang="en-US" sz="2000" dirty="0"/>
              <a:t>,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protocolos</a:t>
            </a:r>
            <a:r>
              <a:rPr lang="en-US" sz="2000" dirty="0"/>
              <a:t> de </a:t>
            </a:r>
            <a:r>
              <a:rPr lang="en-US" sz="2000" dirty="0" err="1"/>
              <a:t>comunicação</a:t>
            </a:r>
            <a:r>
              <a:rPr lang="en-US" sz="2000" dirty="0"/>
              <a:t> e a </a:t>
            </a:r>
            <a:r>
              <a:rPr lang="en-US" sz="2000" dirty="0" err="1"/>
              <a:t>hierarquia</a:t>
            </a:r>
            <a:r>
              <a:rPr lang="en-US" sz="2000" dirty="0"/>
              <a:t> de </a:t>
            </a:r>
            <a:r>
              <a:rPr lang="en-US" sz="2000" dirty="0" err="1"/>
              <a:t>colaboração</a:t>
            </a:r>
            <a:r>
              <a:rPr lang="en-US" sz="2000" dirty="0"/>
              <a:t> entre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diferentes</a:t>
            </a:r>
            <a:r>
              <a:rPr lang="en-US" sz="2000" dirty="0"/>
              <a:t> </a:t>
            </a:r>
            <a:r>
              <a:rPr lang="en-US" sz="2000" dirty="0" err="1"/>
              <a:t>agentes</a:t>
            </a:r>
            <a:r>
              <a:rPr lang="en-US" sz="2000" dirty="0"/>
              <a:t> de IA.</a:t>
            </a:r>
          </a:p>
          <a:p>
            <a:r>
              <a:rPr lang="en-US" sz="2000" b="1" dirty="0"/>
              <a:t>3. </a:t>
            </a:r>
            <a:r>
              <a:rPr lang="en-US" sz="2000" b="1" dirty="0" err="1"/>
              <a:t>Implementação</a:t>
            </a:r>
            <a:r>
              <a:rPr lang="en-US" sz="2000" b="1" dirty="0"/>
              <a:t> dos </a:t>
            </a:r>
            <a:r>
              <a:rPr lang="en-US" sz="2000" b="1" dirty="0" err="1"/>
              <a:t>Agentes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Desenvolvimento</a:t>
            </a:r>
            <a:r>
              <a:rPr lang="en-US" sz="2000" dirty="0"/>
              <a:t> do </a:t>
            </a:r>
            <a:r>
              <a:rPr lang="en-US" sz="2000" dirty="0" err="1"/>
              <a:t>código-fonte</a:t>
            </a:r>
            <a:r>
              <a:rPr lang="en-US" sz="2000" dirty="0"/>
              <a:t> de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agente</a:t>
            </a:r>
            <a:r>
              <a:rPr lang="en-US" sz="2000" dirty="0"/>
              <a:t>, </a:t>
            </a:r>
            <a:r>
              <a:rPr lang="en-US" sz="2000" dirty="0" err="1"/>
              <a:t>implementando</a:t>
            </a:r>
            <a:r>
              <a:rPr lang="en-US" sz="2000" dirty="0"/>
              <a:t> </a:t>
            </a:r>
            <a:r>
              <a:rPr lang="en-US" sz="2000" dirty="0" err="1"/>
              <a:t>suas</a:t>
            </a:r>
            <a:r>
              <a:rPr lang="en-US" sz="2000" dirty="0"/>
              <a:t> </a:t>
            </a:r>
            <a:r>
              <a:rPr lang="en-US" sz="2000" dirty="0" err="1"/>
              <a:t>funcionalidades</a:t>
            </a:r>
            <a:r>
              <a:rPr lang="en-US" sz="2000" dirty="0"/>
              <a:t> </a:t>
            </a:r>
            <a:r>
              <a:rPr lang="en-US" sz="2000" dirty="0" err="1"/>
              <a:t>específicas</a:t>
            </a:r>
            <a:r>
              <a:rPr lang="en-US" sz="2000" dirty="0"/>
              <a:t> de coleta de dados, </a:t>
            </a:r>
            <a:r>
              <a:rPr lang="en-US" sz="2000" dirty="0" err="1"/>
              <a:t>análise</a:t>
            </a:r>
            <a:r>
              <a:rPr lang="en-US" sz="2000" dirty="0"/>
              <a:t> de </a:t>
            </a:r>
            <a:r>
              <a:rPr lang="en-US" sz="2000" dirty="0" err="1"/>
              <a:t>comportamento</a:t>
            </a:r>
            <a:r>
              <a:rPr lang="en-US" sz="2000" dirty="0"/>
              <a:t> e </a:t>
            </a:r>
            <a:r>
              <a:rPr lang="en-US" sz="2000" dirty="0" err="1"/>
              <a:t>execução</a:t>
            </a:r>
            <a:r>
              <a:rPr lang="en-US" sz="2000" dirty="0"/>
              <a:t> de </a:t>
            </a:r>
            <a:r>
              <a:rPr lang="en-US" sz="2000" dirty="0" err="1"/>
              <a:t>respostas</a:t>
            </a:r>
            <a:r>
              <a:rPr lang="en-US" sz="2000" dirty="0"/>
              <a:t>.</a:t>
            </a:r>
          </a:p>
          <a:p>
            <a:r>
              <a:rPr lang="en-US" sz="2000" b="1" dirty="0"/>
              <a:t>4. </a:t>
            </a:r>
            <a:r>
              <a:rPr lang="en-US" sz="2000" b="1" dirty="0" err="1"/>
              <a:t>Treinamento</a:t>
            </a:r>
            <a:r>
              <a:rPr lang="en-US" sz="2000" b="1" dirty="0"/>
              <a:t> dos </a:t>
            </a:r>
            <a:r>
              <a:rPr lang="en-US" sz="2000" b="1" dirty="0" err="1"/>
              <a:t>Modelos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Preparação</a:t>
            </a:r>
            <a:r>
              <a:rPr lang="en-US" sz="2000" dirty="0"/>
              <a:t> e </a:t>
            </a:r>
            <a:r>
              <a:rPr lang="en-US" sz="2000" dirty="0" err="1"/>
              <a:t>treinamento</a:t>
            </a:r>
            <a:r>
              <a:rPr lang="en-US" sz="2000" dirty="0"/>
              <a:t> dos </a:t>
            </a:r>
            <a:r>
              <a:rPr lang="en-US" sz="2000" dirty="0" err="1"/>
              <a:t>modelos</a:t>
            </a:r>
            <a:r>
              <a:rPr lang="en-US" sz="2000" dirty="0"/>
              <a:t> de </a:t>
            </a:r>
            <a:r>
              <a:rPr lang="en-US" sz="2000" dirty="0" err="1"/>
              <a:t>aprendizado</a:t>
            </a:r>
            <a:r>
              <a:rPr lang="en-US" sz="2000" dirty="0"/>
              <a:t> de </a:t>
            </a:r>
            <a:r>
              <a:rPr lang="en-US" sz="2000" dirty="0" err="1"/>
              <a:t>máquina</a:t>
            </a:r>
            <a:r>
              <a:rPr lang="en-US" sz="2000" dirty="0"/>
              <a:t> de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agente</a:t>
            </a:r>
            <a:r>
              <a:rPr lang="en-US" sz="2000" dirty="0"/>
              <a:t>, </a:t>
            </a:r>
            <a:r>
              <a:rPr lang="en-US" sz="2000" dirty="0" err="1"/>
              <a:t>utilizando</a:t>
            </a:r>
            <a:r>
              <a:rPr lang="en-US" sz="2000" dirty="0"/>
              <a:t> datasets </a:t>
            </a:r>
            <a:r>
              <a:rPr lang="en-US" sz="2000" dirty="0" err="1"/>
              <a:t>públicos</a:t>
            </a:r>
            <a:r>
              <a:rPr lang="en-US" sz="2000" dirty="0"/>
              <a:t>.</a:t>
            </a:r>
          </a:p>
          <a:p>
            <a:r>
              <a:rPr lang="en-US" sz="2000" b="1" dirty="0"/>
              <a:t>5. </a:t>
            </a:r>
            <a:r>
              <a:rPr lang="en-US" sz="2000" b="1" dirty="0" err="1"/>
              <a:t>Validação</a:t>
            </a:r>
            <a:r>
              <a:rPr lang="en-US" sz="2000" b="1" dirty="0"/>
              <a:t> Experimental:</a:t>
            </a:r>
            <a:r>
              <a:rPr lang="en-US" sz="2000" dirty="0"/>
              <a:t> </a:t>
            </a:r>
            <a:r>
              <a:rPr lang="en-US" sz="2000" dirty="0" err="1"/>
              <a:t>Execução</a:t>
            </a:r>
            <a:r>
              <a:rPr lang="en-US" sz="2000" dirty="0"/>
              <a:t> de </a:t>
            </a:r>
            <a:r>
              <a:rPr lang="en-US" sz="2000" dirty="0" err="1"/>
              <a:t>cenários</a:t>
            </a:r>
            <a:r>
              <a:rPr lang="en-US" sz="2000" dirty="0"/>
              <a:t> de </a:t>
            </a:r>
            <a:r>
              <a:rPr lang="en-US" sz="2000" dirty="0" err="1"/>
              <a:t>ataque</a:t>
            </a:r>
            <a:r>
              <a:rPr lang="en-US" sz="2000" dirty="0"/>
              <a:t> </a:t>
            </a:r>
            <a:r>
              <a:rPr lang="en-US" sz="2000" dirty="0" err="1"/>
              <a:t>simulados</a:t>
            </a:r>
            <a:r>
              <a:rPr lang="en-US" sz="2000" dirty="0"/>
              <a:t> no </a:t>
            </a:r>
            <a:r>
              <a:rPr lang="en-US" sz="2000" dirty="0" err="1"/>
              <a:t>ambiente</a:t>
            </a:r>
            <a:r>
              <a:rPr lang="en-US" sz="2000" dirty="0"/>
              <a:t> </a:t>
            </a:r>
            <a:r>
              <a:rPr lang="en-US" sz="2000" dirty="0" err="1"/>
              <a:t>controlado</a:t>
            </a:r>
            <a:r>
              <a:rPr lang="en-US" sz="2000" dirty="0"/>
              <a:t> para </a:t>
            </a:r>
            <a:r>
              <a:rPr lang="en-US" sz="2000" dirty="0" err="1"/>
              <a:t>testar</a:t>
            </a:r>
            <a:r>
              <a:rPr lang="en-US" sz="2000" dirty="0"/>
              <a:t> a </a:t>
            </a:r>
            <a:r>
              <a:rPr lang="en-US" sz="2000" dirty="0" err="1"/>
              <a:t>capacidade</a:t>
            </a:r>
            <a:r>
              <a:rPr lang="en-US" sz="2000" dirty="0"/>
              <a:t> de </a:t>
            </a:r>
            <a:r>
              <a:rPr lang="en-US" sz="2000" dirty="0" err="1"/>
              <a:t>detecção</a:t>
            </a:r>
            <a:r>
              <a:rPr lang="en-US" sz="2000" dirty="0"/>
              <a:t>, a </a:t>
            </a:r>
            <a:r>
              <a:rPr lang="en-US" sz="2000" dirty="0" err="1"/>
              <a:t>precisão</a:t>
            </a:r>
            <a:r>
              <a:rPr lang="en-US" sz="2000" dirty="0"/>
              <a:t> e o tempo de </a:t>
            </a:r>
            <a:r>
              <a:rPr lang="en-US" sz="2000" dirty="0" err="1"/>
              <a:t>resposta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integrado</a:t>
            </a:r>
            <a:r>
              <a:rPr lang="en-US" sz="2000" dirty="0"/>
              <a:t>.</a:t>
            </a:r>
          </a:p>
          <a:p>
            <a:r>
              <a:rPr lang="en-US" sz="2000" b="1" dirty="0"/>
              <a:t>6. </a:t>
            </a:r>
            <a:r>
              <a:rPr lang="en-US" sz="2000" b="1" dirty="0" err="1"/>
              <a:t>Análise</a:t>
            </a:r>
            <a:r>
              <a:rPr lang="en-US" sz="2000" b="1" dirty="0"/>
              <a:t> de </a:t>
            </a:r>
            <a:r>
              <a:rPr lang="en-US" sz="2000" b="1" dirty="0" err="1"/>
              <a:t>Resultados</a:t>
            </a:r>
            <a:r>
              <a:rPr lang="en-US" sz="2000" b="1" dirty="0"/>
              <a:t>:</a:t>
            </a:r>
            <a:r>
              <a:rPr lang="en-US" sz="2000" dirty="0"/>
              <a:t> Coleta e </a:t>
            </a:r>
            <a:r>
              <a:rPr lang="en-US" sz="2000" dirty="0" err="1"/>
              <a:t>avaliação</a:t>
            </a:r>
            <a:r>
              <a:rPr lang="en-US" sz="2000" dirty="0"/>
              <a:t> das </a:t>
            </a:r>
            <a:r>
              <a:rPr lang="en-US" sz="2000" dirty="0" err="1"/>
              <a:t>métricas</a:t>
            </a:r>
            <a:r>
              <a:rPr lang="en-US" sz="2000" dirty="0"/>
              <a:t> de </a:t>
            </a:r>
            <a:r>
              <a:rPr lang="en-US" sz="2000" dirty="0" err="1"/>
              <a:t>desempenho</a:t>
            </a:r>
            <a:r>
              <a:rPr lang="en-US" sz="2000" dirty="0"/>
              <a:t> (ex: taxa de </a:t>
            </a:r>
            <a:r>
              <a:rPr lang="en-US" sz="2000" dirty="0" err="1"/>
              <a:t>detecção</a:t>
            </a:r>
            <a:r>
              <a:rPr lang="en-US" sz="2000" dirty="0"/>
              <a:t>, </a:t>
            </a:r>
            <a:r>
              <a:rPr lang="en-US" sz="2000" dirty="0" err="1"/>
              <a:t>falsos</a:t>
            </a:r>
            <a:r>
              <a:rPr lang="en-US" sz="2000" dirty="0"/>
              <a:t> </a:t>
            </a:r>
            <a:r>
              <a:rPr lang="en-US" sz="2000" dirty="0" err="1"/>
              <a:t>positivos</a:t>
            </a:r>
            <a:r>
              <a:rPr lang="en-US" sz="2000" dirty="0"/>
              <a:t>) e </a:t>
            </a:r>
            <a:r>
              <a:rPr lang="en-US" sz="2000" dirty="0" err="1"/>
              <a:t>identificação</a:t>
            </a:r>
            <a:r>
              <a:rPr lang="en-US" sz="2000" dirty="0"/>
              <a:t> de </a:t>
            </a:r>
            <a:r>
              <a:rPr lang="en-US" sz="2000" dirty="0" err="1"/>
              <a:t>pontos</a:t>
            </a:r>
            <a:r>
              <a:rPr lang="en-US" sz="2000" dirty="0"/>
              <a:t> para </a:t>
            </a:r>
            <a:r>
              <a:rPr lang="en-US" sz="2000" dirty="0" err="1"/>
              <a:t>otimização</a:t>
            </a:r>
            <a:r>
              <a:rPr lang="en-US" sz="2000" dirty="0"/>
              <a:t> e </a:t>
            </a:r>
            <a:r>
              <a:rPr lang="en-US" sz="2000" dirty="0" err="1"/>
              <a:t>melhorias</a:t>
            </a:r>
            <a:r>
              <a:rPr lang="en-US" sz="2000" dirty="0"/>
              <a:t> </a:t>
            </a:r>
            <a:r>
              <a:rPr lang="en-US" sz="2000" dirty="0" err="1"/>
              <a:t>futuras</a:t>
            </a:r>
            <a:r>
              <a:rPr lang="en-US" sz="2000" dirty="0"/>
              <a:t> no </a:t>
            </a:r>
            <a:r>
              <a:rPr lang="en-US" sz="2000" dirty="0" err="1"/>
              <a:t>sistema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1045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FD22-B2F0-D5D8-FAA3-D4FBB1A0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DC84D8-514E-526C-7B91-6FE2DEB0345E}"/>
              </a:ext>
            </a:extLst>
          </p:cNvPr>
          <p:cNvSpPr txBox="1">
            <a:spLocks/>
          </p:cNvSpPr>
          <p:nvPr/>
        </p:nvSpPr>
        <p:spPr>
          <a:xfrm>
            <a:off x="10840840" y="6365233"/>
            <a:ext cx="1072300" cy="365125"/>
          </a:xfrm>
          <a:prstGeom prst="rect">
            <a:avLst/>
          </a:prstGeom>
        </p:spPr>
        <p:txBody>
          <a:bodyPr/>
          <a:lstStyle>
            <a:defPPr>
              <a:defRPr lang="en-BR"/>
            </a:defPPr>
            <a:lvl1pPr marL="0" algn="r" defTabSz="914400" rtl="0" eaLnBrk="1" latinLnBrk="0" hangingPunct="1">
              <a:defRPr sz="18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0C5910-6898-3F46-B791-FA6C3AAC1BD1}" type="slidenum">
              <a:rPr lang="en-BR" smtClean="0"/>
              <a:pPr/>
              <a:t>11</a:t>
            </a:fld>
            <a:endParaRPr lang="en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001DCB-7093-A263-11EE-0FA9EC7D2F7E}"/>
              </a:ext>
            </a:extLst>
          </p:cNvPr>
          <p:cNvSpPr txBox="1">
            <a:spLocks/>
          </p:cNvSpPr>
          <p:nvPr/>
        </p:nvSpPr>
        <p:spPr>
          <a:xfrm>
            <a:off x="296795" y="741127"/>
            <a:ext cx="6479145" cy="7292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pt-BR" sz="3200" b="1" dirty="0">
                <a:latin typeface="+mn-lt"/>
              </a:rPr>
              <a:t>RESULTADOS ESPERADOS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E2EAD-FF5C-360F-A614-986040E4A4B4}"/>
              </a:ext>
            </a:extLst>
          </p:cNvPr>
          <p:cNvSpPr txBox="1"/>
          <p:nvPr/>
        </p:nvSpPr>
        <p:spPr>
          <a:xfrm>
            <a:off x="483704" y="1470408"/>
            <a:ext cx="112245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Desenvolvimento</a:t>
            </a:r>
            <a:r>
              <a:rPr lang="en-US" sz="2000" b="1" dirty="0"/>
              <a:t> de um </a:t>
            </a:r>
            <a:r>
              <a:rPr lang="en-US" sz="2000" b="1" dirty="0" err="1"/>
              <a:t>protótipo</a:t>
            </a:r>
            <a:r>
              <a:rPr lang="en-US" sz="2000" b="1" dirty="0"/>
              <a:t> </a:t>
            </a:r>
            <a:r>
              <a:rPr lang="en-US" sz="2000" b="1" dirty="0" err="1"/>
              <a:t>funcional</a:t>
            </a:r>
            <a:r>
              <a:rPr lang="en-US" sz="2000" dirty="0"/>
              <a:t> de </a:t>
            </a:r>
            <a:r>
              <a:rPr lang="en-US" sz="2000" dirty="0" err="1"/>
              <a:t>arquitetura</a:t>
            </a:r>
            <a:r>
              <a:rPr lang="en-US" sz="2000" dirty="0"/>
              <a:t>, </a:t>
            </a:r>
            <a:r>
              <a:rPr lang="en-US" sz="2000" dirty="0" err="1"/>
              <a:t>baseada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agentes</a:t>
            </a:r>
            <a:r>
              <a:rPr lang="en-US" sz="2000" dirty="0"/>
              <a:t> de IA </a:t>
            </a:r>
            <a:r>
              <a:rPr lang="en-US" sz="2000" dirty="0" err="1"/>
              <a:t>especializados</a:t>
            </a:r>
            <a:r>
              <a:rPr lang="en-US" sz="2000" dirty="0"/>
              <a:t> e </a:t>
            </a:r>
            <a:r>
              <a:rPr lang="en-US" sz="2000" dirty="0" err="1"/>
              <a:t>colaborativos</a:t>
            </a:r>
            <a:r>
              <a:rPr lang="en-US" sz="2000" dirty="0"/>
              <a:t> para a </a:t>
            </a:r>
            <a:r>
              <a:rPr lang="en-US" sz="2000" dirty="0" err="1"/>
              <a:t>detecção</a:t>
            </a:r>
            <a:r>
              <a:rPr lang="en-US" sz="2000" dirty="0"/>
              <a:t> de spywares.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Obtenção</a:t>
            </a:r>
            <a:r>
              <a:rPr lang="en-US" sz="2000" b="1" dirty="0"/>
              <a:t> de </a:t>
            </a:r>
            <a:r>
              <a:rPr lang="en-US" sz="2000" b="1" dirty="0" err="1"/>
              <a:t>uma</a:t>
            </a:r>
            <a:r>
              <a:rPr lang="en-US" sz="2000" b="1" dirty="0"/>
              <a:t> taxa de </a:t>
            </a:r>
            <a:r>
              <a:rPr lang="en-US" sz="2000" b="1" dirty="0" err="1"/>
              <a:t>detecção</a:t>
            </a:r>
            <a:r>
              <a:rPr lang="en-US" sz="2000" dirty="0"/>
              <a:t> de spywares superior à de </a:t>
            </a:r>
            <a:r>
              <a:rPr lang="en-US" sz="2000" dirty="0" err="1"/>
              <a:t>métodos</a:t>
            </a:r>
            <a:r>
              <a:rPr lang="en-US" sz="2000" dirty="0"/>
              <a:t> </a:t>
            </a:r>
            <a:r>
              <a:rPr lang="en-US" sz="2000" dirty="0" err="1"/>
              <a:t>convencionais</a:t>
            </a:r>
            <a:r>
              <a:rPr lang="en-US" sz="2000" dirty="0"/>
              <a:t>, </a:t>
            </a:r>
            <a:r>
              <a:rPr lang="en-US" sz="2000" dirty="0" err="1"/>
              <a:t>acompanhada</a:t>
            </a:r>
            <a:r>
              <a:rPr lang="en-US" sz="2000" dirty="0"/>
              <a:t> de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redução</a:t>
            </a:r>
            <a:r>
              <a:rPr lang="en-US" sz="2000" dirty="0"/>
              <a:t> </a:t>
            </a:r>
            <a:r>
              <a:rPr lang="en-US" sz="2000" dirty="0" err="1"/>
              <a:t>significativa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incidência</a:t>
            </a:r>
            <a:r>
              <a:rPr lang="en-US" sz="2000" dirty="0"/>
              <a:t> de </a:t>
            </a:r>
            <a:r>
              <a:rPr lang="en-US" sz="2000" dirty="0" err="1"/>
              <a:t>falsos</a:t>
            </a:r>
            <a:r>
              <a:rPr lang="en-US" sz="2000" dirty="0"/>
              <a:t> </a:t>
            </a:r>
            <a:r>
              <a:rPr lang="en-US" sz="2000" dirty="0" err="1"/>
              <a:t>positivos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Aprimoramento</a:t>
            </a:r>
            <a:r>
              <a:rPr lang="en-US" sz="2000" b="1" dirty="0"/>
              <a:t> da </a:t>
            </a:r>
            <a:r>
              <a:rPr lang="en-US" sz="2000" b="1" dirty="0" err="1"/>
              <a:t>segurança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ambientes </a:t>
            </a:r>
            <a:r>
              <a:rPr lang="en-US" sz="2000" dirty="0" err="1"/>
              <a:t>operacionais</a:t>
            </a:r>
            <a:r>
              <a:rPr lang="en-US" sz="2000" dirty="0"/>
              <a:t> Windows, </a:t>
            </a:r>
            <a:r>
              <a:rPr lang="en-US" sz="2000" dirty="0" err="1"/>
              <a:t>oferecendo</a:t>
            </a:r>
            <a:r>
              <a:rPr lang="en-US" sz="2000" dirty="0"/>
              <a:t> um </a:t>
            </a:r>
            <a:r>
              <a:rPr lang="en-US" sz="2000" dirty="0" err="1"/>
              <a:t>modelo</a:t>
            </a:r>
            <a:r>
              <a:rPr lang="en-US" sz="2000" dirty="0"/>
              <a:t> de </a:t>
            </a:r>
            <a:r>
              <a:rPr lang="en-US" sz="2000" dirty="0" err="1"/>
              <a:t>defesa</a:t>
            </a:r>
            <a:r>
              <a:rPr lang="en-US" sz="2000" dirty="0"/>
              <a:t>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robusto</a:t>
            </a:r>
            <a:r>
              <a:rPr lang="en-US" sz="2000" dirty="0"/>
              <a:t> e </a:t>
            </a:r>
            <a:r>
              <a:rPr lang="en-US" sz="2000" dirty="0" err="1"/>
              <a:t>proativo</a:t>
            </a:r>
            <a:r>
              <a:rPr lang="en-US" sz="2000" dirty="0"/>
              <a:t> contra </a:t>
            </a:r>
            <a:r>
              <a:rPr lang="en-US" sz="2000" dirty="0" err="1"/>
              <a:t>ameaças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Estímulo</a:t>
            </a:r>
            <a:r>
              <a:rPr lang="en-US" sz="2000" b="1" dirty="0"/>
              <a:t> a </a:t>
            </a:r>
            <a:r>
              <a:rPr lang="en-US" sz="2000" b="1" dirty="0" err="1"/>
              <a:t>novas</a:t>
            </a:r>
            <a:r>
              <a:rPr lang="en-US" sz="2000" b="1" dirty="0"/>
              <a:t> </a:t>
            </a:r>
            <a:r>
              <a:rPr lang="en-US" sz="2000" b="1" dirty="0" err="1"/>
              <a:t>pesquisas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área</a:t>
            </a:r>
            <a:r>
              <a:rPr lang="en-US" sz="2000" dirty="0"/>
              <a:t> de </a:t>
            </a:r>
            <a:r>
              <a:rPr lang="en-US" sz="2000" dirty="0" err="1"/>
              <a:t>sistemas</a:t>
            </a:r>
            <a:r>
              <a:rPr lang="en-US" sz="2000" dirty="0"/>
              <a:t> </a:t>
            </a:r>
            <a:r>
              <a:rPr lang="en-US" sz="2000" dirty="0" err="1"/>
              <a:t>multiagente</a:t>
            </a:r>
            <a:r>
              <a:rPr lang="en-US" sz="2000" dirty="0"/>
              <a:t> </a:t>
            </a:r>
            <a:r>
              <a:rPr lang="en-US" sz="2000" dirty="0" err="1"/>
              <a:t>aplicados</a:t>
            </a:r>
            <a:r>
              <a:rPr lang="en-US" sz="2000" dirty="0"/>
              <a:t> à </a:t>
            </a:r>
            <a:r>
              <a:rPr lang="en-US" sz="2000" dirty="0" err="1"/>
              <a:t>cibersegurança</a:t>
            </a:r>
            <a:r>
              <a:rPr lang="en-US" sz="2000" dirty="0"/>
              <a:t>, </a:t>
            </a:r>
            <a:r>
              <a:rPr lang="en-US" sz="2000" dirty="0" err="1"/>
              <a:t>criando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base </a:t>
            </a:r>
            <a:r>
              <a:rPr lang="en-US" sz="2000" dirty="0" err="1"/>
              <a:t>sólida</a:t>
            </a:r>
            <a:r>
              <a:rPr lang="en-US" sz="2000" dirty="0"/>
              <a:t> para </a:t>
            </a:r>
            <a:r>
              <a:rPr lang="en-US" sz="2000" dirty="0" err="1"/>
              <a:t>avanços</a:t>
            </a:r>
            <a:r>
              <a:rPr lang="en-US" sz="2000" dirty="0"/>
              <a:t> </a:t>
            </a:r>
            <a:r>
              <a:rPr lang="en-US" sz="2000" dirty="0" err="1"/>
              <a:t>futuros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detecção</a:t>
            </a:r>
            <a:r>
              <a:rPr lang="en-US" sz="2000" dirty="0"/>
              <a:t> </a:t>
            </a:r>
            <a:r>
              <a:rPr lang="en-US" sz="2000" dirty="0" err="1"/>
              <a:t>adaptativa</a:t>
            </a:r>
            <a:r>
              <a:rPr lang="en-US" sz="2000" dirty="0"/>
              <a:t> de </a:t>
            </a:r>
            <a:r>
              <a:rPr lang="en-US" sz="2000" dirty="0" err="1"/>
              <a:t>ameaças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4990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3EFD2-D68B-5C02-8C61-072FF50E1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4169E37-3D28-D576-F4CE-DE9BC9615E90}"/>
              </a:ext>
            </a:extLst>
          </p:cNvPr>
          <p:cNvSpPr txBox="1">
            <a:spLocks/>
          </p:cNvSpPr>
          <p:nvPr/>
        </p:nvSpPr>
        <p:spPr>
          <a:xfrm>
            <a:off x="10840840" y="6365233"/>
            <a:ext cx="1072300" cy="365125"/>
          </a:xfrm>
          <a:prstGeom prst="rect">
            <a:avLst/>
          </a:prstGeom>
        </p:spPr>
        <p:txBody>
          <a:bodyPr/>
          <a:lstStyle>
            <a:defPPr>
              <a:defRPr lang="en-BR"/>
            </a:defPPr>
            <a:lvl1pPr marL="0" algn="r" defTabSz="914400" rtl="0" eaLnBrk="1" latinLnBrk="0" hangingPunct="1">
              <a:defRPr sz="18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0C5910-6898-3F46-B791-FA6C3AAC1BD1}" type="slidenum">
              <a:rPr lang="en-BR" smtClean="0"/>
              <a:pPr/>
              <a:t>12</a:t>
            </a:fld>
            <a:endParaRPr lang="en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1C1AAB-0B6E-7C31-B6F0-5CC2E49AAA36}"/>
              </a:ext>
            </a:extLst>
          </p:cNvPr>
          <p:cNvSpPr txBox="1">
            <a:spLocks/>
          </p:cNvSpPr>
          <p:nvPr/>
        </p:nvSpPr>
        <p:spPr>
          <a:xfrm>
            <a:off x="296795" y="741127"/>
            <a:ext cx="6479145" cy="7292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pt-BR" sz="3200" b="1" dirty="0">
                <a:latin typeface="+mn-lt"/>
              </a:rPr>
              <a:t>LIMITAÇÕES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84852-0D72-845A-81AA-C689E0D0C987}"/>
              </a:ext>
            </a:extLst>
          </p:cNvPr>
          <p:cNvSpPr txBox="1"/>
          <p:nvPr/>
        </p:nvSpPr>
        <p:spPr>
          <a:xfrm>
            <a:off x="483704" y="1470408"/>
            <a:ext cx="112245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Custo</a:t>
            </a:r>
            <a:r>
              <a:rPr lang="en-US" sz="2000" b="1" dirty="0"/>
              <a:t> </a:t>
            </a:r>
            <a:r>
              <a:rPr lang="en-US" sz="2000" b="1" dirty="0" err="1"/>
              <a:t>Computacional</a:t>
            </a:r>
            <a:r>
              <a:rPr lang="en-US" sz="2000" b="1" dirty="0"/>
              <a:t>:</a:t>
            </a:r>
            <a:r>
              <a:rPr lang="en-US" sz="2000" dirty="0"/>
              <a:t> A </a:t>
            </a:r>
            <a:r>
              <a:rPr lang="en-US" sz="2000" dirty="0" err="1"/>
              <a:t>natureza</a:t>
            </a:r>
            <a:r>
              <a:rPr lang="en-US" sz="2000" dirty="0"/>
              <a:t> </a:t>
            </a:r>
            <a:r>
              <a:rPr lang="en-US" sz="2000" dirty="0" err="1"/>
              <a:t>distribuída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impõe</a:t>
            </a:r>
            <a:r>
              <a:rPr lang="en-US" sz="2000" dirty="0"/>
              <a:t> um </a:t>
            </a:r>
            <a:r>
              <a:rPr lang="en-US" sz="2000" dirty="0" err="1"/>
              <a:t>elevado</a:t>
            </a:r>
            <a:r>
              <a:rPr lang="en-US" sz="2000" dirty="0"/>
              <a:t> </a:t>
            </a:r>
            <a:r>
              <a:rPr lang="en-US" sz="2000" dirty="0" err="1"/>
              <a:t>custo</a:t>
            </a:r>
            <a:r>
              <a:rPr lang="en-US" sz="2000" dirty="0"/>
              <a:t> </a:t>
            </a:r>
            <a:r>
              <a:rPr lang="en-US" sz="2000" dirty="0" err="1"/>
              <a:t>computacional</a:t>
            </a:r>
            <a:r>
              <a:rPr lang="en-US" sz="2000" dirty="0"/>
              <a:t>, </a:t>
            </a:r>
            <a:r>
              <a:rPr lang="en-US" sz="2000" dirty="0" err="1"/>
              <a:t>tornando</a:t>
            </a:r>
            <a:r>
              <a:rPr lang="en-US" sz="2000" dirty="0"/>
              <a:t> a </a:t>
            </a:r>
            <a:r>
              <a:rPr lang="en-US" sz="2000" dirty="0" err="1"/>
              <a:t>otimização</a:t>
            </a:r>
            <a:r>
              <a:rPr lang="en-US" sz="2000" dirty="0"/>
              <a:t> de </a:t>
            </a:r>
            <a:r>
              <a:rPr lang="en-US" sz="2000" dirty="0" err="1"/>
              <a:t>recursos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prioridade</a:t>
            </a:r>
            <a:r>
              <a:rPr lang="en-US" sz="2000" dirty="0"/>
              <a:t> e </a:t>
            </a:r>
            <a:r>
              <a:rPr lang="en-US" sz="2000" dirty="0" err="1"/>
              <a:t>justificando</a:t>
            </a:r>
            <a:r>
              <a:rPr lang="en-US" sz="2000" dirty="0"/>
              <a:t> a </a:t>
            </a:r>
            <a:r>
              <a:rPr lang="en-US" sz="2000" dirty="0" err="1"/>
              <a:t>adoção</a:t>
            </a:r>
            <a:r>
              <a:rPr lang="en-US" sz="2000" dirty="0"/>
              <a:t> de </a:t>
            </a:r>
            <a:r>
              <a:rPr lang="en-US" sz="2000" dirty="0" err="1"/>
              <a:t>modelos</a:t>
            </a:r>
            <a:r>
              <a:rPr lang="en-US" sz="2000" dirty="0"/>
              <a:t> de IA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leves</a:t>
            </a:r>
            <a:r>
              <a:rPr lang="en-US" sz="2000" dirty="0"/>
              <a:t> e </a:t>
            </a:r>
            <a:r>
              <a:rPr lang="en-US" sz="2000" dirty="0" err="1"/>
              <a:t>eficientes</a:t>
            </a:r>
            <a:r>
              <a:rPr lang="en-US" sz="2000" dirty="0"/>
              <a:t> sempre que a </a:t>
            </a:r>
            <a:r>
              <a:rPr lang="en-US" sz="2000" dirty="0" err="1"/>
              <a:t>especialização</a:t>
            </a:r>
            <a:r>
              <a:rPr lang="en-US" sz="2000" dirty="0"/>
              <a:t> de um </a:t>
            </a:r>
            <a:r>
              <a:rPr lang="en-US" sz="2000" dirty="0" err="1"/>
              <a:t>agente</a:t>
            </a:r>
            <a:r>
              <a:rPr lang="en-US" sz="2000" dirty="0"/>
              <a:t> </a:t>
            </a:r>
            <a:r>
              <a:rPr lang="en-US" sz="2000" dirty="0" err="1"/>
              <a:t>permitir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Dependência</a:t>
            </a:r>
            <a:r>
              <a:rPr lang="en-US" sz="2000" b="1" dirty="0"/>
              <a:t> de Dados:</a:t>
            </a:r>
            <a:r>
              <a:rPr lang="en-US" sz="2000" dirty="0"/>
              <a:t> A </a:t>
            </a:r>
            <a:r>
              <a:rPr lang="en-US" sz="2000" dirty="0" err="1"/>
              <a:t>eficácia</a:t>
            </a:r>
            <a:r>
              <a:rPr lang="en-US" sz="2000" dirty="0"/>
              <a:t> e a </a:t>
            </a:r>
            <a:r>
              <a:rPr lang="en-US" sz="2000" dirty="0" err="1"/>
              <a:t>precisão</a:t>
            </a:r>
            <a:r>
              <a:rPr lang="en-US" sz="2000" dirty="0"/>
              <a:t> dos </a:t>
            </a:r>
            <a:r>
              <a:rPr lang="en-US" sz="2000" dirty="0" err="1"/>
              <a:t>modelos</a:t>
            </a:r>
            <a:r>
              <a:rPr lang="en-US" sz="2000" dirty="0"/>
              <a:t> de IA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diretamente</a:t>
            </a:r>
            <a:r>
              <a:rPr lang="en-US" sz="2000" dirty="0"/>
              <a:t> </a:t>
            </a:r>
            <a:r>
              <a:rPr lang="en-US" sz="2000" dirty="0" err="1"/>
              <a:t>dependentes</a:t>
            </a:r>
            <a:r>
              <a:rPr lang="en-US" sz="2000" dirty="0"/>
              <a:t> da </a:t>
            </a:r>
            <a:r>
              <a:rPr lang="en-US" sz="2000" dirty="0" err="1"/>
              <a:t>qualidade</a:t>
            </a:r>
            <a:r>
              <a:rPr lang="en-US" sz="2000" dirty="0"/>
              <a:t> e da </a:t>
            </a:r>
            <a:r>
              <a:rPr lang="en-US" sz="2000" dirty="0" err="1"/>
              <a:t>atualidade</a:t>
            </a:r>
            <a:r>
              <a:rPr lang="en-US" sz="2000" dirty="0"/>
              <a:t> dos datasets de spyware </a:t>
            </a:r>
            <a:r>
              <a:rPr lang="en-US" sz="2000" dirty="0" err="1"/>
              <a:t>utilizados</a:t>
            </a:r>
            <a:r>
              <a:rPr lang="en-US" sz="2000" dirty="0"/>
              <a:t> para o </a:t>
            </a:r>
            <a:r>
              <a:rPr lang="en-US" sz="2000" dirty="0" err="1"/>
              <a:t>treinamento</a:t>
            </a:r>
            <a:r>
              <a:rPr lang="en-US" sz="2000" dirty="0"/>
              <a:t>, o que </a:t>
            </a:r>
            <a:r>
              <a:rPr lang="en-US" sz="2000" dirty="0" err="1"/>
              <a:t>representa</a:t>
            </a:r>
            <a:r>
              <a:rPr lang="en-US" sz="2000" dirty="0"/>
              <a:t> um </a:t>
            </a:r>
            <a:r>
              <a:rPr lang="en-US" sz="2000" dirty="0" err="1"/>
              <a:t>desafio</a:t>
            </a:r>
            <a:r>
              <a:rPr lang="en-US" sz="2000" dirty="0"/>
              <a:t> de </a:t>
            </a:r>
            <a:r>
              <a:rPr lang="en-US" sz="2000" dirty="0" err="1"/>
              <a:t>manutenção</a:t>
            </a:r>
            <a:r>
              <a:rPr lang="en-US" sz="2000" dirty="0"/>
              <a:t> </a:t>
            </a:r>
            <a:r>
              <a:rPr lang="en-US" sz="2000" dirty="0" err="1"/>
              <a:t>contínua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Evolução</a:t>
            </a:r>
            <a:r>
              <a:rPr lang="en-US" sz="2000" b="1" dirty="0"/>
              <a:t> das </a:t>
            </a:r>
            <a:r>
              <a:rPr lang="en-US" sz="2000" b="1" dirty="0" err="1"/>
              <a:t>Ameaças</a:t>
            </a:r>
            <a:r>
              <a:rPr lang="en-US" sz="2000" b="1" dirty="0"/>
              <a:t>:</a:t>
            </a:r>
            <a:r>
              <a:rPr lang="en-US" sz="2000" dirty="0"/>
              <a:t> Novas </a:t>
            </a:r>
            <a:r>
              <a:rPr lang="en-US" sz="2000" dirty="0" err="1"/>
              <a:t>famílias</a:t>
            </a:r>
            <a:r>
              <a:rPr lang="en-US" sz="2000" dirty="0"/>
              <a:t> de spyware com </a:t>
            </a:r>
            <a:r>
              <a:rPr lang="en-US" sz="2000" dirty="0" err="1"/>
              <a:t>comportamentos</a:t>
            </a:r>
            <a:r>
              <a:rPr lang="en-US" sz="2000" dirty="0"/>
              <a:t> </a:t>
            </a:r>
            <a:r>
              <a:rPr lang="en-US" sz="2000" dirty="0" err="1"/>
              <a:t>radicalmente</a:t>
            </a:r>
            <a:r>
              <a:rPr lang="en-US" sz="2000" dirty="0"/>
              <a:t> </a:t>
            </a:r>
            <a:r>
              <a:rPr lang="en-US" sz="2000" dirty="0" err="1"/>
              <a:t>diferentes</a:t>
            </a:r>
            <a:r>
              <a:rPr lang="en-US" sz="2000" dirty="0"/>
              <a:t> </a:t>
            </a:r>
            <a:r>
              <a:rPr lang="en-US" sz="2000" dirty="0" err="1"/>
              <a:t>podem</a:t>
            </a:r>
            <a:r>
              <a:rPr lang="en-US" sz="2000" dirty="0"/>
              <a:t>, </a:t>
            </a:r>
            <a:r>
              <a:rPr lang="en-US" sz="2000" dirty="0" err="1"/>
              <a:t>inicialmente</a:t>
            </a:r>
            <a:r>
              <a:rPr lang="en-US" sz="2000" dirty="0"/>
              <a:t>, </a:t>
            </a:r>
            <a:r>
              <a:rPr lang="en-US" sz="2000" dirty="0" err="1"/>
              <a:t>evadir</a:t>
            </a:r>
            <a:r>
              <a:rPr lang="en-US" sz="2000" dirty="0"/>
              <a:t> a </a:t>
            </a:r>
            <a:r>
              <a:rPr lang="en-US" sz="2000" dirty="0" err="1"/>
              <a:t>detecção</a:t>
            </a:r>
            <a:r>
              <a:rPr lang="en-US" sz="2000" dirty="0"/>
              <a:t>, </a:t>
            </a:r>
            <a:r>
              <a:rPr lang="en-US" sz="2000" dirty="0" err="1"/>
              <a:t>exigindo</a:t>
            </a:r>
            <a:r>
              <a:rPr lang="en-US" sz="2000" dirty="0"/>
              <a:t> </a:t>
            </a:r>
            <a:r>
              <a:rPr lang="en-US" sz="2000" dirty="0" err="1"/>
              <a:t>atualizações</a:t>
            </a:r>
            <a:r>
              <a:rPr lang="en-US" sz="2000" dirty="0"/>
              <a:t> e re-</a:t>
            </a:r>
            <a:r>
              <a:rPr lang="en-US" sz="2000" dirty="0" err="1"/>
              <a:t>treinamento</a:t>
            </a:r>
            <a:r>
              <a:rPr lang="en-US" sz="2000" dirty="0"/>
              <a:t> </a:t>
            </a:r>
            <a:r>
              <a:rPr lang="en-US" sz="2000" dirty="0" err="1"/>
              <a:t>frequente</a:t>
            </a:r>
            <a:r>
              <a:rPr lang="en-US" sz="2000" dirty="0"/>
              <a:t> dos </a:t>
            </a:r>
            <a:r>
              <a:rPr lang="en-US" sz="2000" dirty="0" err="1"/>
              <a:t>agentes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498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27684</TotalTime>
  <Words>1911</Words>
  <Application>Microsoft Macintosh PowerPoint</Application>
  <PresentationFormat>Widescreen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Wingdings</vt:lpstr>
      <vt:lpstr>Office Theme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Robson de Oliveira Albuquerque</dc:creator>
  <cp:lastModifiedBy>Paulo Silva</cp:lastModifiedBy>
  <cp:revision>207</cp:revision>
  <dcterms:created xsi:type="dcterms:W3CDTF">2023-08-11T21:28:01Z</dcterms:created>
  <dcterms:modified xsi:type="dcterms:W3CDTF">2025-07-11T11:40:53Z</dcterms:modified>
</cp:coreProperties>
</file>